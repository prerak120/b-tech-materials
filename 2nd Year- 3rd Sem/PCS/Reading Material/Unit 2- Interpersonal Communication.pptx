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32"/>
  </p:notesMasterIdLst>
  <p:handoutMasterIdLst>
    <p:handoutMasterId r:id="rId33"/>
  </p:handoutMasterIdLst>
  <p:sldIdLst>
    <p:sldId id="437" r:id="rId5"/>
    <p:sldId id="461" r:id="rId6"/>
    <p:sldId id="453" r:id="rId7"/>
    <p:sldId id="488" r:id="rId8"/>
    <p:sldId id="489" r:id="rId9"/>
    <p:sldId id="466" r:id="rId10"/>
    <p:sldId id="467" r:id="rId11"/>
    <p:sldId id="468" r:id="rId12"/>
    <p:sldId id="469" r:id="rId13"/>
    <p:sldId id="470" r:id="rId14"/>
    <p:sldId id="477" r:id="rId15"/>
    <p:sldId id="472" r:id="rId16"/>
    <p:sldId id="473" r:id="rId17"/>
    <p:sldId id="474" r:id="rId18"/>
    <p:sldId id="475" r:id="rId19"/>
    <p:sldId id="476" r:id="rId20"/>
    <p:sldId id="478" r:id="rId21"/>
    <p:sldId id="479" r:id="rId22"/>
    <p:sldId id="480" r:id="rId23"/>
    <p:sldId id="482" r:id="rId24"/>
    <p:sldId id="483" r:id="rId25"/>
    <p:sldId id="484" r:id="rId26"/>
    <p:sldId id="485" r:id="rId27"/>
    <p:sldId id="486" r:id="rId28"/>
    <p:sldId id="487" r:id="rId29"/>
    <p:sldId id="458" r:id="rId30"/>
    <p:sldId id="46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6" autoAdjust="0"/>
    <p:restoredTop sz="95394" autoAdjust="0"/>
  </p:normalViewPr>
  <p:slideViewPr>
    <p:cSldViewPr snapToGrid="0">
      <p:cViewPr varScale="1">
        <p:scale>
          <a:sx n="62" d="100"/>
          <a:sy n="62" d="100"/>
        </p:scale>
        <p:origin x="864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pPr/>
              <a:t>5/29/2025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pPr/>
              <a:t>5/29/2025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30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5598-3B23-9782-8621-ADEA96ADB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1BA23A-687B-BF3D-E9A7-991F4B307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0DB0F-0B23-DBF0-1E7E-3EACA3516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FAEDA-039C-1186-8B5A-75749C17F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628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59012-9D27-E7E3-769B-9D316AA5F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E791D-5ED8-AAC0-1505-C8588D5F0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7FA0A-4868-FEFB-6D02-245E9DD12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84703-2DD9-C432-C0F5-F5D81A040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680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1BFEA-836C-4827-9E4C-60E9CA32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90575-D03D-F529-CC72-F53145785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8554A-1F94-95C6-4ABF-9F44C1BBD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F41D5-3533-799D-6161-FCF4A07A2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00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50E76-3CF3-880B-A652-54582D29A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EF3F9-1937-F6A8-B535-EE3656A2C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129EBD-187F-D9EC-AB96-79A0EEE2A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0DA5B-F78C-5D34-0E6D-A449D6FD9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11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543AB-8113-3B0B-4670-DA816F0C7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4DD1F-466E-F6D3-B7B5-26F37C8A7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84B56-AA3C-8677-ACE3-5FDC3C75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94963-2B76-FD32-34B8-D1A8FABFC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261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220F3-4038-70D0-AFE9-2F7B6CB54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6B0562-12E1-E0F8-23C1-906A944D0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C4BE0C-9AC2-2404-32BF-F308FDFE9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B4225-2DDA-F524-CD34-A7DD18C7B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03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0569C-515D-551D-8921-F3CD4C63A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25674-4264-669B-0159-1D6BEF69F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59180-FBD2-7CAC-D5BD-92354D67E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3BAFE-2114-DB0F-3901-EF397B27E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55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0A1E4-6F92-31FB-8F40-500A83B6D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B8FE3-1361-0333-F211-713D56778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9A649-7296-6947-005F-B933D2077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877D3-D403-E63D-1F33-8D7D632DF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8544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86B36-C198-8647-C32E-1F90FBEE8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1874A-C94D-C5F0-82A5-73E996130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FBBD5-9D0E-C474-E733-D04F38739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0BB57-4D48-2355-2290-7F940D0A6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0103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269CC-0369-4A5E-82F5-9A385C676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908F48-0CDB-996F-0806-B55264A99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45978-18C9-EFB4-82DA-63A234420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E284C-612C-C9E7-CF0D-3A4D8AC82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5492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9A67-28E0-749F-8362-7AFF0D02F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939AB-9C84-DD0D-0A01-276A78202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64C8F-3676-148E-8A6E-146D259B5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426D7-6E5F-0883-B27E-5006ED244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7071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6DBED-2F9F-3802-07CB-60EA67CC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5C069B-2A28-E761-2747-70BAAD453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3EBE2-D258-3E5F-9D17-12CF7DF58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0FB6D-7E73-4ADD-EDB4-B72E122B8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4985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5988F-C5F1-CCB0-3BFA-D0EB5DD21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D0511-75E3-C626-2537-EDCE2D534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892153-9E16-B5DD-4C8D-38B212BA8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B1AC4-8DD1-86E1-28BA-79603E9C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955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D3F51-5B3A-9500-B96F-971B8C8C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4DCA2-90B5-415C-B875-5BEDC0D42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C3031-5D8A-B99C-6CDE-A86B9EBFC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C47AB-D1CA-2688-C3EF-AFECB51D7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4417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AB63-86FC-2240-7F55-F8732C10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0B7DA6-1FDD-CF95-0ABE-A75BA0DFC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DD456-3A60-51AE-09DE-BD8031C98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78D9D-95F0-3ABC-8DA4-DA3C8DD99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5911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2A446-AF27-133F-DD73-649E80316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9F780-2CC0-E776-F289-82F19DD91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C103A-9D82-460E-2F16-9922CFE78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EAA1B-6299-3A97-6345-E857B3C8C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9572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FAB92-34FB-4954-2336-70A839D82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9F6DD-2BE8-E279-5531-1297EE802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5C6A9-BAF1-7847-4F61-94F3E4217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7D6C0-161F-BB81-22B6-EEC71476B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5988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E1C38-03CA-15D6-D2B7-EF82FF546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9494FA-A74F-9001-FADE-EDFF7398A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7B4585-6FB0-3B8C-B3E7-BEF144975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3C402-2198-DAFB-F61B-FC8BAE0D0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6121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76AA-661C-D161-00BA-B48BB8B67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C5057-DDBC-B060-4162-B4C9F0199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72C52-B8CA-20C9-AF62-B54F9306E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D23C7-318A-F562-A646-F16E9F38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111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6DF47-5C67-3288-3731-510296129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AB57A-30D7-B3D8-FF94-2566C1C29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AB2B1-21EC-A605-247E-42039CFFB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0236C-CA9C-EC32-FCE3-87F83FBF6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0635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8203B-2405-D9D7-1D08-7569D207C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6551E2-A4DD-3ADB-5FE9-D13E30AE2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DD5B3-A53A-A262-77B1-717E8DE94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4CA83-8763-EE17-547B-559D0767E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9328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E3658-D35B-6636-B052-5536A5DF4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48F1D-398C-A553-F2C9-CA69B6A67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FBEBD-60B8-B5B4-8E34-86109D67C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C296C-079F-8C64-26E3-A5D668AED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4126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11306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27875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90660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6402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770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62912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954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7370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42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43088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72804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b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BA2562-20F9-9DC8-81EB-6ED26B24D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369E878B-C75C-98DC-B694-2C40507C4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75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27">
            <a:extLst>
              <a:ext uri="{FF2B5EF4-FFF2-40B4-BE49-F238E27FC236}">
                <a16:creationId xmlns:a16="http://schemas.microsoft.com/office/drawing/2014/main" id="{DC03A063-67E0-718E-206C-6C807C20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5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6D86FEEF-2721-A616-B636-7C6F8B1B5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AC20A76-77DC-62F7-C0E5-66C03853B3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1478396"/>
            <a:ext cx="3710355" cy="344529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F99A149-DEF4-9E0F-D0DE-E859DB6CA5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465" y="1477963"/>
            <a:ext cx="5536135" cy="3446462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686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10C35C-5361-BD30-EB79-01BD7215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26">
            <a:extLst>
              <a:ext uri="{FF2B5EF4-FFF2-40B4-BE49-F238E27FC236}">
                <a16:creationId xmlns:a16="http://schemas.microsoft.com/office/drawing/2014/main" id="{948A7171-32A3-1CAC-DDFD-7C44DDAF0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47">
            <a:extLst>
              <a:ext uri="{FF2B5EF4-FFF2-40B4-BE49-F238E27FC236}">
                <a16:creationId xmlns:a16="http://schemas.microsoft.com/office/drawing/2014/main" id="{06FD5EAC-FAC4-CDB4-6AB8-809E940F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A13352-25BC-FD28-A34C-DD204D5BF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48" y="246183"/>
            <a:ext cx="9525000" cy="1919521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34108AC-4ED2-99E6-0212-0AC0802C55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1600" y="2274033"/>
            <a:ext cx="9525000" cy="3317875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596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29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5" r:id="rId12"/>
    <p:sldLayoutId id="214748372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video" Target="https://www.youtube.com/embed/_tG9YHeZT2A?feature=oembed" TargetMode="Externa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56" y="85343"/>
            <a:ext cx="2761488" cy="13400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444752"/>
            <a:ext cx="9421402" cy="5402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Interpersonal Communication at Workplace: Dynamics of communication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IN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200000"/>
              </a:lnSpc>
            </a:pPr>
            <a:r>
              <a:rPr lang="en-IN" sz="32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Semester 3 – Professional Communication Skills  (</a:t>
            </a:r>
            <a:r>
              <a:rPr lang="en-IN" sz="32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303193203</a:t>
            </a: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ctr">
              <a:lnSpc>
                <a:spcPct val="200000"/>
              </a:lnSpc>
            </a:pP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017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10934" y="192024"/>
            <a:ext cx="56122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Learning Objectives</a:t>
            </a:r>
            <a:endParaRPr lang="en-US" sz="48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28928" y="1438382"/>
            <a:ext cx="9525000" cy="4631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the importance and types of interpersonal communication.</a:t>
            </a: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verbal and nonverbal cues in workplace interactions.</a:t>
            </a: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Practice active listening and empathy for effective communication.</a:t>
            </a: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techniques for conflict resolution and cultural sensitivity.</a:t>
            </a: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professional relationships through effective feedback and trust-building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Silent Conversation Activity (5 minutes</a:t>
            </a:r>
            <a:r>
              <a:rPr lang="en-US" sz="2800" dirty="0"/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1: Silent Pair Activity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Ask students to pair up and sit face-to-face. Give them this instruction: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the next 60 seconds, you must try to ‘communicate’ with your partner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without using any words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—no speaking, texting, or writing. Just use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 eyes, facial expressions, and body language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express a simple message like: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‘I’m happy to see you’ or ‘You took my pen.’ Ready? Go!</a:t>
            </a: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10934" y="256032"/>
            <a:ext cx="35274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Introduction</a:t>
            </a:r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8E0FE-1E1D-47A5-8E97-C62A4A414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7AF07-D87B-B706-3CBA-6ECDF332CC1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873303"/>
            <a:ext cx="9525000" cy="592983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2: Ask These Questions:</a:t>
            </a:r>
          </a:p>
          <a:p>
            <a:pPr algn="just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did you try to express?</a:t>
            </a:r>
          </a:p>
          <a:p>
            <a:pPr algn="just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did you do it without words?</a:t>
            </a:r>
          </a:p>
          <a:p>
            <a:pPr algn="just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Could your partner understand you? How?</a:t>
            </a:r>
          </a:p>
          <a:p>
            <a:pPr algn="just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Was it comfortable or awkward?</a:t>
            </a:r>
          </a:p>
          <a:p>
            <a:pPr marL="0" indent="0" algn="just">
              <a:buNone/>
            </a:pPr>
            <a:r>
              <a:rPr lang="en-IN" sz="2800" b="1" dirty="0"/>
              <a:t>Transition into the Topic: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just happened was </a:t>
            </a: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interpersonal communication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—but without the words. You used </a:t>
            </a: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non-verbal cues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facial expressions, and eye contact.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Now imagine how much more powerful communication becomes when we </a:t>
            </a: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combine this with words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active listening, and emotional awareness.</a:t>
            </a:r>
          </a:p>
          <a:p>
            <a:pPr marL="0" indent="0">
              <a:buNone/>
            </a:pPr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A04E6827-29AA-1D9B-DBA9-3172DE3F8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8DE782-D638-C634-A43F-37B2AA0C80D8}"/>
              </a:ext>
            </a:extLst>
          </p:cNvPr>
          <p:cNvSpPr/>
          <p:nvPr/>
        </p:nvSpPr>
        <p:spPr>
          <a:xfrm>
            <a:off x="1510934" y="256032"/>
            <a:ext cx="35274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Introduction</a:t>
            </a:r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09DBD5-5590-8E74-23B0-25CDCA7F5A8A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229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48EB2-A321-3613-0F43-EA8EC299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0DF162-1787-F1DB-B98D-8A61FB0F053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6736" y="1254679"/>
            <a:ext cx="9519863" cy="554845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BFB7D983-C6B9-C352-1480-1FCC4B099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2516A06-E710-3585-CE9F-984851888FFF}"/>
              </a:ext>
            </a:extLst>
          </p:cNvPr>
          <p:cNvSpPr/>
          <p:nvPr/>
        </p:nvSpPr>
        <p:spPr>
          <a:xfrm>
            <a:off x="1510934" y="256032"/>
            <a:ext cx="35274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Introduction</a:t>
            </a:r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465A01-4DFA-260C-1B3F-633399282905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F71B340-28E9-0C6B-0EE6-10238CC7190A}"/>
              </a:ext>
            </a:extLst>
          </p:cNvPr>
          <p:cNvSpPr txBox="1"/>
          <p:nvPr/>
        </p:nvSpPr>
        <p:spPr>
          <a:xfrm>
            <a:off x="1295401" y="1014984"/>
            <a:ext cx="6420491" cy="5809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Interpersonal Communication?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Interpersonal Communication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the process of exchanging ideas, thoughts, emotions, and information between two or more people, using both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verbal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(spoken or written words) and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non-verbal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(body language, tone of voice, facial expressions) methods.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a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two-way process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where both the sender and the receiver actively participate to create understanding and build relationships.</a:t>
            </a:r>
          </a:p>
        </p:txBody>
      </p:sp>
      <p:pic>
        <p:nvPicPr>
          <p:cNvPr id="2" name="Online Media 1" title="Interpersonal Communication in Workplace: Importance">
            <a:hlinkClick r:id="" action="ppaction://media"/>
            <a:extLst>
              <a:ext uri="{FF2B5EF4-FFF2-40B4-BE49-F238E27FC236}">
                <a16:creationId xmlns:a16="http://schemas.microsoft.com/office/drawing/2014/main" id="{1997F1D1-F8D4-17BE-0665-D940C7003B2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7797227" y="1168043"/>
            <a:ext cx="4301889" cy="563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32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FE985-B3CD-D556-018E-3E4FAF80C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38A77-D7DF-DA21-22C3-610C620ACE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599" y="1300297"/>
            <a:ext cx="10248471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D888653C-4A78-D1B2-DBE9-160349AE7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182D31-A76D-C57F-52C6-2D907B26E328}"/>
              </a:ext>
            </a:extLst>
          </p:cNvPr>
          <p:cNvSpPr/>
          <p:nvPr/>
        </p:nvSpPr>
        <p:spPr>
          <a:xfrm>
            <a:off x="1160981" y="143839"/>
            <a:ext cx="107673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Interpersonal Communication at the Workplace</a:t>
            </a:r>
            <a:endParaRPr lang="en-IN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87762D-B0A1-05AF-F553-452DDA93B71A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A194720-4876-2E95-FFD9-0D89D0D08F56}"/>
              </a:ext>
            </a:extLst>
          </p:cNvPr>
          <p:cNvSpPr txBox="1"/>
          <p:nvPr/>
        </p:nvSpPr>
        <p:spPr>
          <a:xfrm>
            <a:off x="1371600" y="1228378"/>
            <a:ext cx="10248472" cy="534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Interpersonal communication at the workplace refers to the exchange of information, ideas, thoughts, and emotions between colleagues, teams, and management through verbal and non-verbal means. It plays a vital role in ensuring smooth workflow, collaboration, and a healthy work environment.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During a team meeting, the project manager explains the new task clearly (verbal communication) while maintaining eye contact and using hand gestures (non-verbal communication). Team members listen carefully and ask questions to ensure they understand. This helps the team work smoothly and avoid mistakes.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32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48EC-314B-2767-D52A-53D25E0F3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5E307-612C-D966-4F5E-397783FC9B6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C30E06F9-DA13-C52F-E6F4-CB508693F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BD7AE6-5CB6-E3A1-6CC9-8154F4036ED0}"/>
              </a:ext>
            </a:extLst>
          </p:cNvPr>
          <p:cNvSpPr/>
          <p:nvPr/>
        </p:nvSpPr>
        <p:spPr>
          <a:xfrm>
            <a:off x="1536192" y="254594"/>
            <a:ext cx="879961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Verbal</a:t>
            </a: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4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</a:t>
            </a:r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CCB48C-E232-9367-3EE0-0710A52C46BA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BF8DF26-FECB-D455-6C02-709896A9677F}"/>
              </a:ext>
            </a:extLst>
          </p:cNvPr>
          <p:cNvSpPr txBox="1"/>
          <p:nvPr/>
        </p:nvSpPr>
        <p:spPr>
          <a:xfrm>
            <a:off x="1536191" y="938441"/>
            <a:ext cx="10155799" cy="586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Involves spoken and written messages used to share information.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elements include: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Clarity: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Speaking clearly so the message is easily understood.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Tone: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attitude or emotion behind the words, which affects how the message is received.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Word Choice: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Using appropriate and precise words to convey the right meaning.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Organized ideas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help make the message logical and easy to follow.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Active listening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crucial to understand the speaker fully and respond effectively.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349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683A9-BDA8-62FC-C362-ED96219EB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B57DB-B104-4A4E-6142-872B302A42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536383B5-FAA3-9143-0D7A-1BF79FB66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4488DB-922D-147E-F696-99393D561B44}"/>
              </a:ext>
            </a:extLst>
          </p:cNvPr>
          <p:cNvSpPr/>
          <p:nvPr/>
        </p:nvSpPr>
        <p:spPr>
          <a:xfrm>
            <a:off x="1536192" y="292609"/>
            <a:ext cx="879961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Nonverbal Communication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AE2265-5B5B-AD43-A028-5CF36880A3EA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97C175E-64CF-5592-538F-363FDAD274C1}"/>
              </a:ext>
            </a:extLst>
          </p:cNvPr>
          <p:cNvSpPr txBox="1"/>
          <p:nvPr/>
        </p:nvSpPr>
        <p:spPr>
          <a:xfrm>
            <a:off x="1613043" y="1123607"/>
            <a:ext cx="9207357" cy="4528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Nonverbal Communication 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facial expressions, gestures, tone of voice, and posture.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Often 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complements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verbal messages by reinforcing meaning or contradicts them when there is mixed communication.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Nonverbal cues can vary widely across different 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cultures,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 understanding cultural differences is important to avoid misunderstandings.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635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50D32-1885-F09D-4F33-9196B5A92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DCA81E-C07B-2E80-3DC2-5CB9FB2AD09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10571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pPr marL="0" indent="0">
              <a:buNone/>
            </a:pPr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26796C23-4748-DB74-4B9E-3A7928C59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A077A93-BC87-49BD-9C01-92558A00E87A}"/>
              </a:ext>
            </a:extLst>
          </p:cNvPr>
          <p:cNvSpPr/>
          <p:nvPr/>
        </p:nvSpPr>
        <p:spPr>
          <a:xfrm>
            <a:off x="1371600" y="267128"/>
            <a:ext cx="896420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4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Active Listening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0420D0-0D0F-AEF2-726D-34673C4AB594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94895E2-D9C2-C062-CCC7-D30AC7BDF157}"/>
              </a:ext>
            </a:extLst>
          </p:cNvPr>
          <p:cNvSpPr txBox="1"/>
          <p:nvPr/>
        </p:nvSpPr>
        <p:spPr>
          <a:xfrm>
            <a:off x="1536192" y="996696"/>
            <a:ext cx="10864716" cy="486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Giving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attention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the speaker without distractions.</a:t>
            </a: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Signs of active listening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Maintaining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eye contact.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Nodding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show understanding.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verbal affirmations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 “I see,” “Yes,” or “Go on.”</a:t>
            </a: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clarity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understanding..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respect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the speaker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misunderstandings and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conflicts.</a:t>
            </a:r>
          </a:p>
        </p:txBody>
      </p:sp>
    </p:spTree>
    <p:extLst>
      <p:ext uri="{BB962C8B-B14F-4D97-AF65-F5344CB8AC3E}">
        <p14:creationId xmlns:p14="http://schemas.microsoft.com/office/powerpoint/2010/main" val="1221828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98184-F752-CA72-B3F4-B5C668182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7CFD9-C418-6917-B5DD-BECBB1DC88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599" y="1197864"/>
            <a:ext cx="10130589" cy="5605271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B70A6952-00E9-931C-B91C-24F5D6B37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7A7BC53-62D2-7470-3331-FC1DD118E0C1}"/>
              </a:ext>
            </a:extLst>
          </p:cNvPr>
          <p:cNvSpPr/>
          <p:nvPr/>
        </p:nvSpPr>
        <p:spPr>
          <a:xfrm>
            <a:off x="1468816" y="339046"/>
            <a:ext cx="886698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Empathy in Communication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D36780-2B5B-8F94-4C9A-C1074DB59630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1E63A65-5738-F543-D735-D5B0EC1DE8FF}"/>
              </a:ext>
            </a:extLst>
          </p:cNvPr>
          <p:cNvSpPr txBox="1"/>
          <p:nvPr/>
        </p:nvSpPr>
        <p:spPr>
          <a:xfrm>
            <a:off x="1536192" y="996696"/>
            <a:ext cx="9898621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and sharing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others’ feelings and perspectives.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to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strong connections and trust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between people.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Empathy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means truly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putting yourself in someone else’s shoes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sympathy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feeling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sorry for someone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but staying emotionally distant.</a:t>
            </a: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a colleague shares their workload stress, you listen carefully and say, “I understand how tough this is for you. How can I help?”</a:t>
            </a: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friend is upset about a failed exam, and instead of just saying “That’s too bad,” you say, “I’m really sorry you’re feeling this way. Let’s figure out how to improve together.”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108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47866-31E5-7596-BEBF-83442A82C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F94DD-FFEF-EDA6-C2E5-BD1866140BF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2E133A0E-63FC-9339-9659-F8526F74E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6CF949-C881-A3F8-4891-A7309B1D7C1A}"/>
              </a:ext>
            </a:extLst>
          </p:cNvPr>
          <p:cNvSpPr/>
          <p:nvPr/>
        </p:nvSpPr>
        <p:spPr>
          <a:xfrm>
            <a:off x="1536192" y="195208"/>
            <a:ext cx="879961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Feedback</a:t>
            </a: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3DF020-FFF1-CB87-DB78-FEA5A69B805F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2F63E3F-91FD-4F34-7B95-6E238C1752FD}"/>
              </a:ext>
            </a:extLst>
          </p:cNvPr>
          <p:cNvSpPr txBox="1"/>
          <p:nvPr/>
        </p:nvSpPr>
        <p:spPr>
          <a:xfrm>
            <a:off x="1536192" y="1106424"/>
            <a:ext cx="10138356" cy="525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Constructive Feedback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Focuses on improvement, given respectfully.</a:t>
            </a:r>
          </a:p>
          <a:p>
            <a:pPr>
              <a:buNone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Criticism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Points out faults without support, can demotivate.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communication and performance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Builds trust and encourages growth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Technique: Sandwich Method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➝ Suggestion ➝ Positive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Good work! Try to speak a bit slower. You’re improving well!</a:t>
            </a:r>
          </a:p>
          <a:p>
            <a:pPr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01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1C309-8CB9-7BA6-4977-D16996B75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63099-29F9-8FA4-339E-72DECA3C6BC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8916FEBA-CDB7-5453-001F-F2B939263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7CB3D06-EA02-A76C-F92C-6BE60043DD53}"/>
              </a:ext>
            </a:extLst>
          </p:cNvPr>
          <p:cNvSpPr/>
          <p:nvPr/>
        </p:nvSpPr>
        <p:spPr>
          <a:xfrm>
            <a:off x="1448656" y="246580"/>
            <a:ext cx="86463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Respect and Courtesy</a:t>
            </a:r>
          </a:p>
          <a:p>
            <a:endParaRPr lang="en-US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9AAF3E-1C72-48F4-8B00-239264C2EFEA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0603CAB-29C3-671F-8379-26C746CBCF59}"/>
              </a:ext>
            </a:extLst>
          </p:cNvPr>
          <p:cNvSpPr txBox="1"/>
          <p:nvPr/>
        </p:nvSpPr>
        <p:spPr>
          <a:xfrm>
            <a:off x="1613042" y="1228684"/>
            <a:ext cx="9283557" cy="261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polite language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 respectful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tone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positive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gestures.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cultural respect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maintain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 boundaries.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Encourage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inclusive and open dialogue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where everyone feels heard and valued.</a:t>
            </a:r>
          </a:p>
        </p:txBody>
      </p:sp>
    </p:spTree>
    <p:extLst>
      <p:ext uri="{BB962C8B-B14F-4D97-AF65-F5344CB8AC3E}">
        <p14:creationId xmlns:p14="http://schemas.microsoft.com/office/powerpoint/2010/main" val="3107969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37C36-B31B-9B9F-B336-4E5665E75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78318-8413-FC65-C60D-5D36C7A7C62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210836"/>
            <a:ext cx="10441172" cy="5592299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01673E6F-7D6E-6A02-8998-E8668AFAE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DF020ED-8DF4-1556-B577-EC5A1680CDBF}"/>
              </a:ext>
            </a:extLst>
          </p:cNvPr>
          <p:cNvSpPr/>
          <p:nvPr/>
        </p:nvSpPr>
        <p:spPr>
          <a:xfrm>
            <a:off x="1371600" y="236306"/>
            <a:ext cx="896420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Conflict Resolution</a:t>
            </a:r>
          </a:p>
          <a:p>
            <a:endParaRPr lang="en-US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1F644A-148D-ED17-D001-FCD28D8E27AF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A30C675-4A1F-A24A-F995-BDA9D5A7F459}"/>
              </a:ext>
            </a:extLst>
          </p:cNvPr>
          <p:cNvSpPr txBox="1"/>
          <p:nvPr/>
        </p:nvSpPr>
        <p:spPr>
          <a:xfrm>
            <a:off x="1536192" y="1051560"/>
            <a:ext cx="10117092" cy="5439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Conflicts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Misunderstandings, poor communication, role confusion.</a:t>
            </a:r>
          </a:p>
          <a:p>
            <a:pPr algn="just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Resolution Strategies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 listening: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Fully concentrate on the speaker, showing understanding through gestures and feedback.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Calm, respectful dialogue: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Speak politely and stay composed, even during disagreements.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Clarifying issues and finding common ground: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Ask questions to understand problems clearly and look for solutions that satisfy everyone involved.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Win-Win Approach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Aim for solutions that benefit all parties and maintain relationships</a:t>
            </a:r>
          </a:p>
        </p:txBody>
      </p:sp>
    </p:spTree>
    <p:extLst>
      <p:ext uri="{BB962C8B-B14F-4D97-AF65-F5344CB8AC3E}">
        <p14:creationId xmlns:p14="http://schemas.microsoft.com/office/powerpoint/2010/main" val="384083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5516F-188F-7D0E-E61E-0852C8E60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28E37F-3E1E-7E58-051C-CAC428F807E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83F67A67-D6AB-9555-EBC8-CA38A005B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C6AC03-2C62-F7C6-B612-6ABEE98A2A03}"/>
              </a:ext>
            </a:extLst>
          </p:cNvPr>
          <p:cNvSpPr/>
          <p:nvPr/>
        </p:nvSpPr>
        <p:spPr>
          <a:xfrm>
            <a:off x="1371600" y="226031"/>
            <a:ext cx="896420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Adaptability in </a:t>
            </a:r>
            <a:r>
              <a:rPr lang="en-IN" sz="4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Communication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C8A90B-040F-77FB-252A-2515541E8C32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2C2907A-6B11-1450-90DE-D743BEA05E06}"/>
              </a:ext>
            </a:extLst>
          </p:cNvPr>
          <p:cNvSpPr txBox="1"/>
          <p:nvPr/>
        </p:nvSpPr>
        <p:spPr>
          <a:xfrm>
            <a:off x="1536192" y="1069848"/>
            <a:ext cx="969622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Adapt your communication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fit the styles and needs of different people and situations.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flexible tone, choice of words, and approach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connect effectively.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Flexibility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create trust and smooth collaboration.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Being adaptable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vital when working with varied teams and clients.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831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790A5-3154-ACD4-5055-3411D2B37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A5F8B-A65D-8D0F-6FF3-A0997E4D726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B04FA4C8-CA07-27AA-C422-7EC57F907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658095-8AFD-A2D9-26E6-9055210C43D3}"/>
              </a:ext>
            </a:extLst>
          </p:cNvPr>
          <p:cNvSpPr/>
          <p:nvPr/>
        </p:nvSpPr>
        <p:spPr>
          <a:xfrm>
            <a:off x="1371600" y="236306"/>
            <a:ext cx="896420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Trust and Openness</a:t>
            </a: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B318F1-3E1C-7A30-8733-A9616F3C2AFC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4D726AD-63B6-94FE-06AA-90281152E18F}"/>
              </a:ext>
            </a:extLst>
          </p:cNvPr>
          <p:cNvSpPr txBox="1"/>
          <p:nvPr/>
        </p:nvSpPr>
        <p:spPr>
          <a:xfrm>
            <a:off x="1536192" y="1438382"/>
            <a:ext cx="980874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Honesty and transparency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build strong communication.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confidentiality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be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reliable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your actions.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Encourage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and respectful conversations.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Fosters a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safe, collaborative, and productive environment.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596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84446-329A-E1B1-9315-D2FCB109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A46F8-0F67-C463-D466-59E0760192F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284018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9252A690-DE7B-F6F3-AAB8-81EA8B821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17A64A9-DDFF-C4B8-9B77-2B424890FFFE}"/>
              </a:ext>
            </a:extLst>
          </p:cNvPr>
          <p:cNvSpPr/>
          <p:nvPr/>
        </p:nvSpPr>
        <p:spPr>
          <a:xfrm>
            <a:off x="1371600" y="223284"/>
            <a:ext cx="8964202" cy="157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Cultural Awareness and Sensitivity</a:t>
            </a: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BCE0AA-8C78-2758-8980-DC73DD881B24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B4E800C-05CE-CE55-5E89-85907343B566}"/>
              </a:ext>
            </a:extLst>
          </p:cNvPr>
          <p:cNvSpPr txBox="1"/>
          <p:nvPr/>
        </p:nvSpPr>
        <p:spPr>
          <a:xfrm>
            <a:off x="1716332" y="1318382"/>
            <a:ext cx="9390579" cy="267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Recognize and respect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cultural communication styles and values.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Avoid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stereotypes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assumptions.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Promote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inclusivity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by being open-minded and empathetic.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Builds stronger relationships in diverse teams.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235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7E776-2428-2796-8389-8C59D3674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D6641-86BA-DE6E-5949-F4DC9796BB9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71E63B0A-3A16-2C41-C83F-24E482849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F9DD588-AFEA-BE7B-8057-5AFC7FDCC107}"/>
              </a:ext>
            </a:extLst>
          </p:cNvPr>
          <p:cNvSpPr/>
          <p:nvPr/>
        </p:nvSpPr>
        <p:spPr>
          <a:xfrm>
            <a:off x="1536192" y="256854"/>
            <a:ext cx="879961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 in the Workplace</a:t>
            </a: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FF6186-2EC1-2B2A-8B6E-D2993D78F2E7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87212FD-DD5B-9A2A-1C5F-1DE5CD79BE60}"/>
              </a:ext>
            </a:extLst>
          </p:cNvPr>
          <p:cNvSpPr txBox="1"/>
          <p:nvPr/>
        </p:nvSpPr>
        <p:spPr>
          <a:xfrm>
            <a:off x="1607288" y="1238958"/>
            <a:ext cx="9525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Communication is key to effective teamwork and strong leadership.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ensures everyone understands their roles and works towards common goals.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Enhances collaboration and boosts productivity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communication allows teams to share ideas and solve problems faster.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reduce conflicts and improves employee morale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dialogue creates a positive environment where issues are addressed early.</a:t>
            </a:r>
          </a:p>
        </p:txBody>
      </p:sp>
    </p:spTree>
    <p:extLst>
      <p:ext uri="{BB962C8B-B14F-4D97-AF65-F5344CB8AC3E}">
        <p14:creationId xmlns:p14="http://schemas.microsoft.com/office/powerpoint/2010/main" val="3948656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09E2E-C973-5A1A-C775-972EE6DF9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4ABA7-6EFD-F423-E6E9-BB5F5823FC3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99230CF0-C306-BB37-7290-20AE9FC17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876BE8-2E53-8CC1-8C70-8CA14E99B4AF}"/>
              </a:ext>
            </a:extLst>
          </p:cNvPr>
          <p:cNvSpPr/>
          <p:nvPr/>
        </p:nvSpPr>
        <p:spPr>
          <a:xfrm>
            <a:off x="1371600" y="410966"/>
            <a:ext cx="896420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Theories of Interpersonal Communication</a:t>
            </a: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2E645C-3844-4EA2-53A0-438034361D0A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C6B3960-C5C7-5704-4ADB-C1B032B76CAD}"/>
              </a:ext>
            </a:extLst>
          </p:cNvPr>
          <p:cNvSpPr txBox="1"/>
          <p:nvPr/>
        </p:nvSpPr>
        <p:spPr>
          <a:xfrm>
            <a:off x="1371600" y="1051560"/>
            <a:ext cx="10249786" cy="6608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Recognizing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cultural communication styles and values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helps us understand different ways people express themselves.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Avoiding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stereotypes and assumptions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prevents misunderstandings and builds respect.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Promoting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inclusivity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creates open, effective communication across diverse groups.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Theories of Interpersonal Communication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Theories explain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people interact and connect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considering culture, context, and individual differences.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guide us in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adapting communication styles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improve relationships.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174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10CFB-CB72-0D89-8B8A-77DDD0E36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505DDC-6D8D-4D76-7FAA-330E665373D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F3B344FB-BDA0-BB10-C573-689B90BEF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7F434A-5DD8-37E5-9467-3C935D7BE7ED}"/>
              </a:ext>
            </a:extLst>
          </p:cNvPr>
          <p:cNvSpPr/>
          <p:nvPr/>
        </p:nvSpPr>
        <p:spPr>
          <a:xfrm>
            <a:off x="1371600" y="277402"/>
            <a:ext cx="896420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Nonverbal Communication in the Workplace</a:t>
            </a: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5DD528-4AFD-BC39-3BE2-7CF39BDB4C9B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CB8E319-2D70-CB9B-0D5A-AE4F6CD6F127}"/>
              </a:ext>
            </a:extLst>
          </p:cNvPr>
          <p:cNvSpPr txBox="1"/>
          <p:nvPr/>
        </p:nvSpPr>
        <p:spPr>
          <a:xfrm>
            <a:off x="1674688" y="1014984"/>
            <a:ext cx="9776576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Nonverbal cues can match or conflict with spoken words.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affects how clearly your message is understood.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Reading body language shows true feelings and intent.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helps avoid misunderstandings.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Being aware of your nonverbal signals improves communication.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builds trust and connection with others.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892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C4FE9-1E5E-5652-A8C2-2C9188D8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371B2-3F8D-EAB5-94D6-EBE523D245A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33590" y="1014984"/>
            <a:ext cx="10294706" cy="5788151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751EC0AF-57E7-ECB2-DA77-17277E6EA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53DDA7-4712-F360-5024-EC867C0839AF}"/>
              </a:ext>
            </a:extLst>
          </p:cNvPr>
          <p:cNvSpPr/>
          <p:nvPr/>
        </p:nvSpPr>
        <p:spPr>
          <a:xfrm>
            <a:off x="1536192" y="54864"/>
            <a:ext cx="879961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Emotional Intelligence (EI)</a:t>
            </a: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C418CD-9902-1B22-9088-2B91377CADC1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57B964-B7BA-3A7B-C7F6-FC14A227F930}"/>
              </a:ext>
            </a:extLst>
          </p:cNvPr>
          <p:cNvSpPr txBox="1"/>
          <p:nvPr/>
        </p:nvSpPr>
        <p:spPr>
          <a:xfrm>
            <a:off x="1633590" y="1115302"/>
            <a:ext cx="1038717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Components: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Self-awareness, self-regulation, empathy, social skills.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skills help individuals understand and manage their own and others’ emotions.</a:t>
            </a: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 in Workplace Communication: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Helps manage emotions and build strong relationships.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Leads to better teamwork, collaboration, and conflict resolution.</a:t>
            </a: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EI and Leadership: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Essential for inspiring teams and handling conflicts effectively.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Leaders with high EI create positive work environments and motivate others.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018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AE725-0A8D-A710-7946-C73AAD057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EFC4E-9CA0-732E-BC83-6B0AFF0EEB3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49B9E9B4-2DD5-AA83-D3FB-C6CBFB3BB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4EF7CB6-E42C-2199-B238-F88B6823A969}"/>
              </a:ext>
            </a:extLst>
          </p:cNvPr>
          <p:cNvSpPr/>
          <p:nvPr/>
        </p:nvSpPr>
        <p:spPr>
          <a:xfrm>
            <a:off x="1371600" y="226030"/>
            <a:ext cx="896420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Cultural Sensitivity at Work</a:t>
            </a: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8CDA11-8EF0-58C9-5A9F-C224A2BF2C10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3A33BCF-A789-2AB5-50DF-0680E3233FCD}"/>
              </a:ext>
            </a:extLst>
          </p:cNvPr>
          <p:cNvSpPr txBox="1"/>
          <p:nvPr/>
        </p:nvSpPr>
        <p:spPr>
          <a:xfrm>
            <a:off x="1536192" y="1088136"/>
            <a:ext cx="10207170" cy="5240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Embrace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diversity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communication styles and perspectives.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fosters an inclusive and supportive workplace.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respect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different cultural norms and practices.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Respect helps build trust and positive relationships.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 aware of common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cultural misunderstandings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learn how to avoid them.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 prevents conflicts and improves teamwork.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953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881AA-79D3-267A-5A64-7D7A88453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A785E-2B41-7F7D-91ED-A9368D13303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B90E98CF-24F5-FCBD-B03F-00E3DE64A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2DE3F32-E33F-4B52-41E3-112CC1082200}"/>
              </a:ext>
            </a:extLst>
          </p:cNvPr>
          <p:cNvSpPr/>
          <p:nvPr/>
        </p:nvSpPr>
        <p:spPr>
          <a:xfrm>
            <a:off x="882503" y="54864"/>
            <a:ext cx="1130949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 1 - Role Play Workplace Communication</a:t>
            </a: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3EDBBC-38FA-6373-4C57-C6049B07C12F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0C06479-A90D-B8F1-A955-A0959F118B49}"/>
              </a:ext>
            </a:extLst>
          </p:cNvPr>
          <p:cNvSpPr txBox="1"/>
          <p:nvPr/>
        </p:nvSpPr>
        <p:spPr>
          <a:xfrm>
            <a:off x="1371600" y="1143000"/>
            <a:ext cx="10515600" cy="5981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spcAft>
                <a:spcPts val="800"/>
              </a:spcAft>
              <a:buNone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Instructions: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Students form pairs or groups.</a:t>
            </a: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group is given a workplace scenario (e.g., manager and employee discussion).</a:t>
            </a: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Participants act out their roles, focusing on clear, respectful, and effective communication.</a:t>
            </a:r>
          </a:p>
          <a:p>
            <a:pPr marL="228600" algn="just">
              <a:spcAft>
                <a:spcPts val="800"/>
              </a:spcAft>
              <a:buNone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Debrief &amp; Discussion: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Groups reflect on their experience and discuss what communication techniques worked or needed improvement.</a:t>
            </a: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Facilitator highlights key learning points for better workplace interactions.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618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4D031-0BF6-BF2A-1051-5139BFFD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7153B-C835-57A2-300B-9B14AA2B38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D944CD63-D805-AD24-07A6-1C1CC2412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D52E18-9917-7C7A-4FAF-143FF6033A88}"/>
              </a:ext>
            </a:extLst>
          </p:cNvPr>
          <p:cNvSpPr/>
          <p:nvPr/>
        </p:nvSpPr>
        <p:spPr>
          <a:xfrm>
            <a:off x="1077574" y="-138223"/>
            <a:ext cx="1016649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 2 - Communication Style Self-Assessment</a:t>
            </a:r>
            <a:endParaRPr lang="en-IN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78E8FB-3F32-5D92-9F5D-E0187B0465CB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8AB436E-E225-3AEE-A7F6-4C4311AF81D2}"/>
              </a:ext>
            </a:extLst>
          </p:cNvPr>
          <p:cNvSpPr txBox="1"/>
          <p:nvPr/>
        </p:nvSpPr>
        <p:spPr>
          <a:xfrm>
            <a:off x="1536192" y="1156906"/>
            <a:ext cx="104640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student completes a self-assessment inventory to evaluate how they communicate.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identify their strengths and areas where they can improve.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 then participate in a group discussion to share their results and learn from peers.</a:t>
            </a:r>
          </a:p>
          <a:p>
            <a:pPr algn="just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activity encourages self-awareness and promotes better communication skills.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649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959A9-6EF5-7EAD-DFF9-EA10AB9B4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6FADAF-4FC3-B1E3-C190-05063516CF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C6EAECB8-AD3F-4B4B-82F6-B132A3A45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CA4506-0C3E-146E-A609-A3BC9E115E0D}"/>
              </a:ext>
            </a:extLst>
          </p:cNvPr>
          <p:cNvSpPr/>
          <p:nvPr/>
        </p:nvSpPr>
        <p:spPr>
          <a:xfrm>
            <a:off x="1536192" y="54864"/>
            <a:ext cx="879961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 Study Discussion</a:t>
            </a:r>
            <a:endParaRPr lang="en-IN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12C2C83-2617-B91F-F4D2-926B9AC76232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0D59E0-A988-78C7-984F-14EC79C7CF60}"/>
              </a:ext>
            </a:extLst>
          </p:cNvPr>
          <p:cNvSpPr txBox="1"/>
          <p:nvPr/>
        </p:nvSpPr>
        <p:spPr>
          <a:xfrm>
            <a:off x="1536192" y="729466"/>
            <a:ext cx="993633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Analyze real workplace communication challenges to apply learning.</a:t>
            </a: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 students with a real-life workplace scenario.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 identify the main communication problems in the case.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 how communication theories and strategies can help resolve these issues.</a:t>
            </a:r>
          </a:p>
          <a:p>
            <a:pPr algn="just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activity bridges theory with practice, enhancing problem-solving skills.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96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91ECE-CCE6-963D-5F72-F61D79E22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B38E6-A07E-9392-8523-8062C87F4E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DD693BB1-81D1-99FB-E3F3-39B54FB1A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A3B2E2-1450-81CA-2ADA-78AD9D7D793F}"/>
              </a:ext>
            </a:extLst>
          </p:cNvPr>
          <p:cNvSpPr/>
          <p:nvPr/>
        </p:nvSpPr>
        <p:spPr>
          <a:xfrm>
            <a:off x="1371600" y="205482"/>
            <a:ext cx="896420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C4BE45-70E0-BC5A-90ED-6A69BBFBE6C4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DCB7DB-6621-5D76-3E8D-33800D73570C}"/>
              </a:ext>
            </a:extLst>
          </p:cNvPr>
          <p:cNvSpPr txBox="1"/>
          <p:nvPr/>
        </p:nvSpPr>
        <p:spPr>
          <a:xfrm>
            <a:off x="1536192" y="996696"/>
            <a:ext cx="960099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Recap of key points: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Basics and principles of interpersonal communication.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Importance in the workplace context.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Relevant theories and role of emotional intelligence.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Encourage reflection on personal communication strengths and areas for growth.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9153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48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</p:txBody>
      </p:sp>
      <p:pic>
        <p:nvPicPr>
          <p:cNvPr id="5" name="Picture 4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36776" y="235958"/>
            <a:ext cx="507093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Learning Outcomes </a:t>
            </a:r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36776" y="1051560"/>
            <a:ext cx="9860006" cy="605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the end of this two-hour session, students will be able to:</a:t>
            </a: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Define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interpersonal communication and explain its key components (verbal, nonverbal, feedback, empathy, etc.).</a:t>
            </a: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Apply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active listening, empathy, and feedback techniques in workplace scenarios.</a:t>
            </a: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Analyze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different communication styles and adapt based on context and cultural sensitivity.</a:t>
            </a: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effective strategies for conflict resolution and team collaboration.</a:t>
            </a: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Evaluate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interpersonal communication theories and relate them to real-world workplace situations.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48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 algn="ctr">
              <a:buNone/>
            </a:pPr>
            <a:r>
              <a:rPr lang="en-IN" sz="4800" dirty="0">
                <a:latin typeface="Calibri" pitchFamily="34" charset="0"/>
                <a:ea typeface="Calibri" pitchFamily="34" charset="0"/>
                <a:cs typeface="Calibri" pitchFamily="34" charset="0"/>
              </a:rPr>
              <a:t>Thank You </a:t>
            </a:r>
          </a:p>
        </p:txBody>
      </p:sp>
      <p:pic>
        <p:nvPicPr>
          <p:cNvPr id="5" name="Picture 4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38B8CBF-35BC-4CBA-95E2-584C08F618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27BAF2-BB0B-4E7B-AE5A-2E47729F98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2AE0DF-6B5F-4274-A760-FE77CC84C90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ModOverlayVTI</Template>
  <TotalTime>659</TotalTime>
  <Words>1724</Words>
  <Application>Microsoft Office PowerPoint</Application>
  <PresentationFormat>Widescreen</PresentationFormat>
  <Paragraphs>255</Paragraphs>
  <Slides>27</Slides>
  <Notes>27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Arial Nova Light</vt:lpstr>
      <vt:lpstr>Calibri</vt:lpstr>
      <vt:lpstr>Elephant</vt:lpstr>
      <vt:lpstr>Symbol</vt:lpstr>
      <vt:lpstr>Times New Roman</vt:lpstr>
      <vt:lpstr>Wingdings</vt:lpstr>
      <vt:lpstr>ModOverlayVTI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dc:creator>ABC</dc:creator>
  <cp:lastModifiedBy>MOHINI MACWAN</cp:lastModifiedBy>
  <cp:revision>126</cp:revision>
  <dcterms:created xsi:type="dcterms:W3CDTF">2024-01-11T09:03:24Z</dcterms:created>
  <dcterms:modified xsi:type="dcterms:W3CDTF">2025-05-29T08:53:40Z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