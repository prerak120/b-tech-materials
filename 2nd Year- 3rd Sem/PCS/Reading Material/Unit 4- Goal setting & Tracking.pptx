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handoutMasterIdLst>
    <p:handoutMasterId r:id="rId23"/>
  </p:handoutMasterIdLst>
  <p:sldIdLst>
    <p:sldId id="437" r:id="rId5"/>
    <p:sldId id="461" r:id="rId6"/>
    <p:sldId id="453" r:id="rId7"/>
    <p:sldId id="489" r:id="rId8"/>
    <p:sldId id="490" r:id="rId9"/>
    <p:sldId id="491" r:id="rId10"/>
    <p:sldId id="492" r:id="rId11"/>
    <p:sldId id="496" r:id="rId12"/>
    <p:sldId id="502" r:id="rId13"/>
    <p:sldId id="494" r:id="rId14"/>
    <p:sldId id="495" r:id="rId15"/>
    <p:sldId id="497" r:id="rId16"/>
    <p:sldId id="484" r:id="rId17"/>
    <p:sldId id="485" r:id="rId18"/>
    <p:sldId id="487" r:id="rId19"/>
    <p:sldId id="458" r:id="rId20"/>
    <p:sldId id="4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6" autoAdjust="0"/>
    <p:restoredTop sz="95394" autoAdjust="0"/>
  </p:normalViewPr>
  <p:slideViewPr>
    <p:cSldViewPr snapToGrid="0">
      <p:cViewPr varScale="1">
        <p:scale>
          <a:sx n="62" d="100"/>
          <a:sy n="62" d="100"/>
        </p:scale>
        <p:origin x="86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pPr/>
              <a:t>5/29/2025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pPr/>
              <a:t>5/29/2025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B53C0-EA68-15EC-5DF7-6A106101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7FA3F-C5FC-3610-9798-7831ABAC4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EEBBC-0D95-CCF2-C011-C7FBF2C37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13ED7-D8C9-DCC1-AEB2-F38A06237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387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CB3B-9E17-72ED-5425-FD2AA5EE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00B91-25A7-DA02-6B48-8A724DABD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AFCFC-5377-6567-E0F8-9B0CBFD7A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E3FB6-FF4F-53A6-18B8-62C4802FE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2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5150D-90BB-BBF2-E765-879C9147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0B1DA-4B99-F0E3-821B-ACF31EF79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F2A67-1C5F-225F-58F4-43BC7D2E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18445-D06D-6725-3B10-0BFF9EE4B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515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2EAB-5DB5-8118-A9AF-297F4223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991DA-5B38-C8FA-3DCE-570E7B4AF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20505-45CB-7FE3-DA6D-5B912E686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2D6D6-4075-16A3-9C1A-76863F487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761FB-A30E-A140-F601-03240515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8C622-F85B-E5A0-EC9B-A5CA5FF8F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AD41E-8E47-33DA-ABBF-79A04EC73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49A59-708F-E48F-971C-56F86AC19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262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841B-CCC8-D3C1-BE93-E76FA327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C6B24-C2CF-F425-108B-F870F664B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0F8EB-DF17-C584-3610-D8E154E9F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3BA27-E0F5-E14A-51AA-DA46D85AA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285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E4C4-A2C9-E0C4-635E-16B860BAE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45B10-2FFC-E509-7037-2E2D299CB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A1A7A-6675-2E08-9A65-6F00B0FD3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6DEC0-7081-95CC-EBE3-FBC0B653A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71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ADD2A-8A1B-8822-F730-732B9569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9A9A0-CAA5-8FD4-C86B-219A8737C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D4D61-8816-03B8-8F7A-9BD023CA1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3F196-5A91-5E15-A4D7-C15C6EA05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006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7F694-6A4D-9878-5557-5F2DDDF6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B34F7-F352-6064-7681-B6BF834FE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5903A-98B9-B394-4FCF-301612021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59AD7-B1AB-40F0-9A9D-5BD5056AD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410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6AA-661C-D161-00BA-B48BB8B6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C5057-DDBC-B060-4162-B4C9F0199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72C52-B8CA-20C9-AF62-B54F9306E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D23C7-318A-F562-A646-F16E9F38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11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DF47-5C67-3288-3731-51029612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AB57A-30D7-B3D8-FF94-2566C1C29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AB2B1-21EC-A605-247E-42039CFFB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236C-CA9C-EC32-FCE3-87F83FBF6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063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3658-D35B-6636-B052-5536A5DF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48F1D-398C-A553-F2C9-CA69B6A67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FBEBD-60B8-B5B4-8E34-86109D67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C296C-079F-8C64-26E3-A5D668AED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12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130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7875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9066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0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770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291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954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737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42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308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72804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686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59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5" r:id="rId12"/>
    <p:sldLayoutId id="214748372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PCRSVRD2EAk?feature=oembed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85343"/>
            <a:ext cx="2761488" cy="13400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44752"/>
            <a:ext cx="9421402" cy="3740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setting &amp; Tracking</a:t>
            </a:r>
            <a:endParaRPr lang="en-IN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IN" sz="32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Semester 3 – Professional Communication Skills  (</a:t>
            </a:r>
            <a:r>
              <a:rPr lang="en-IN" sz="3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303193203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>
              <a:lnSpc>
                <a:spcPct val="200000"/>
              </a:lnSpc>
            </a:pP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0934" y="192024"/>
            <a:ext cx="56122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Learning Objectives</a:t>
            </a:r>
            <a:endParaRPr lang="en-US" sz="48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9883" y="452064"/>
            <a:ext cx="10366625" cy="599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endParaRPr lang="en-US" sz="2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significance of goal setting in personal and professional life.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Differentiate between life, personal, and professional goals.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SMART goals and align them with personal vision.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practical strategies to monitor and achieve performance goals.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action plans to overcome challenges and sustain motivation.</a:t>
            </a:r>
          </a:p>
          <a:p>
            <a:pPr algn="just"/>
            <a:endParaRPr lang="en-US" sz="2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48656" y="154112"/>
            <a:ext cx="98426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Introduction-Activity-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What’s Your Goal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endParaRPr lang="en-US" sz="4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EF0A259-1E1F-9145-509C-9DCBDC9ADFCC}"/>
              </a:ext>
            </a:extLst>
          </p:cNvPr>
          <p:cNvSpPr txBox="1"/>
          <p:nvPr/>
        </p:nvSpPr>
        <p:spPr>
          <a:xfrm>
            <a:off x="1536191" y="996696"/>
            <a:ext cx="10582656" cy="62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 or display a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dartboard-style target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(physically or on the board) with 3 zones: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Inner Circle: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Goals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Middle Circle: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Short-Term Goals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Outer Circle: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Tasks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each student to take a sticky note (or card) and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down one personal or academic goal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they have in mind.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by one, students come up and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 their note on the target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they feel their goal fits (long-term, short-term, or daily).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everyone places their note, pick a few at random and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 how such goals can be achieved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leading into the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setting and tracking goals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30B49-217A-B800-51D2-4A1E173A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9F493-87EB-9B3D-78D9-0926E9B7C9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10933" y="996696"/>
            <a:ext cx="10607913" cy="580643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Direction and Motivation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Setting clear goals gives you a path to follow and keeps you motivated to work towards something meaningful.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Enhances Self-Confidence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Achieving small goals builds confidence, showing you that your efforts lead to success.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Track Personal and Professional Development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Goals allow you to measure your growth, identify strengths, and work on areas of improvement over time.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“Vision without action is a daydream; action without vision is a nightmare.” – Japanese Proverb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8D7BC9C4-FA71-87E0-8AE1-B23E48BA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919A0C-DA66-07D0-B285-AF3A969A8748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Importance of Goal Setting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3263A0-BC4D-80D6-525C-E65D3ECC0B12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77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7D643-DBDD-5D00-1625-0FB06D04A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E1BA1-18F4-6FEE-43E1-848269972E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10934" y="849286"/>
            <a:ext cx="10509830" cy="5953849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Defining goals means setting a personal or professional destination.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gives you a clear idea of what you want to achieve.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Goals act like a map to guide your performance and effort.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help you stay focused, organized, and purposeful in your actions</a:t>
            </a:r>
            <a:r>
              <a:rPr lang="en-US" sz="2800" dirty="0"/>
              <a:t>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E7388C2F-95FB-A64E-B7E9-52C6488C7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3BD9CC-3455-9F35-E64C-054A625B2859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What is Goal Setting?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63B758-D872-85FD-ABCC-B79C4FF8B16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06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64EC-E319-BA68-4656-65F50A40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B5338-1FF9-D868-8930-410718909BB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599" y="1300297"/>
            <a:ext cx="10747247" cy="550283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Clarifies Expectations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Goals define what needs to be achieved, making priorities and outcomes clear.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Encourages Consistent Effort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Having a goal keeps you focused and motivated to take regular action.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Allows Measurable Progress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Goals make it easy to track how far you’ve come and what still needs to be done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3C431AD2-FE68-94CB-7642-B13460750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DFE5E6-3FC4-4FB7-906A-1B162B6B0677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Why Goal Setting is Important?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BDA0B-5F97-77BB-CEE8-34F84BB6B539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606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A877-1103-3605-14C1-C4A3B4D3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D7D05-4405-3DA3-5D09-205DC39E11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30157" y="1147803"/>
            <a:ext cx="5575445" cy="5655332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A08A6487-BE2C-6B1E-E61F-2B81AF113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9DE586-4337-AF81-461B-F28F3025F0A4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Types of Goals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29299-1248-E13A-CAE4-7B4810EB7758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E20A34-20E3-CC05-099D-84C116A91D63}"/>
              </a:ext>
            </a:extLst>
          </p:cNvPr>
          <p:cNvSpPr txBox="1"/>
          <p:nvPr/>
        </p:nvSpPr>
        <p:spPr>
          <a:xfrm>
            <a:off x="832208" y="982105"/>
            <a:ext cx="7459038" cy="570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Short-Term Goals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immediate tasks and performance improvements.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Submitting assignments on time, improving a subject grade this semester.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Goals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 at overall growth and future potential.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Becoming a software engineer, securing a dream job, or pursuing higher studies.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two types of goals work together — short-term goals build the path to achieving long-term success.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F906211F-0CD0-20CE-5DD2-1E36546F7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340" y="1047863"/>
            <a:ext cx="3859807" cy="530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30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40456-746E-4E04-8898-9C3BDE6F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E163F-5F52-F192-1855-BAD1E5B98C4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817D8AB-9998-9FCE-5C0D-77947AD27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0A82B8-1F01-7F88-5243-B7C2B8A0D2DC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SMART Goals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ED825D-6406-A75B-BE7C-3B924B277A65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685D89-BF87-A793-5785-9BB315CBF4BB}"/>
              </a:ext>
            </a:extLst>
          </p:cNvPr>
          <p:cNvSpPr txBox="1"/>
          <p:nvPr/>
        </p:nvSpPr>
        <p:spPr>
          <a:xfrm>
            <a:off x="1160980" y="1069848"/>
            <a:ext cx="101508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goals help you plan effectively by ensuring your goals are:</a:t>
            </a: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Clearly state what you want to achieve.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Measurable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how you will track your progress and success.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Achievable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realistic goals that are within your ability and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the goal aligns with your broader objectives and priorities.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Time-bound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a clear deadline to stay focused and motivated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870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3E32-740A-15E9-FB2E-80845DFC0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B76AE-EBC3-1A93-8970-6916B6B15C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43D305C1-D6F1-6C10-B0DF-B18857D30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C526B8-94DA-9A17-94C4-0DE2072B365B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SMART Goals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6E1FCC-2127-C1F3-AFAD-F28C6199C735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24DC26-E718-8303-B1AA-62B38CDEEBAB}"/>
              </a:ext>
            </a:extLst>
          </p:cNvPr>
          <p:cNvSpPr txBox="1"/>
          <p:nvPr/>
        </p:nvSpPr>
        <p:spPr>
          <a:xfrm>
            <a:off x="1510935" y="1162394"/>
            <a:ext cx="2506261" cy="3350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 Specific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 Measurable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 Achievable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 Relevant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 Time-bound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3" name="Online Media 2" title="Setting SMART Goals - How To Properly Set a Goal (animated)">
            <a:hlinkClick r:id="" action="ppaction://media"/>
            <a:extLst>
              <a:ext uri="{FF2B5EF4-FFF2-40B4-BE49-F238E27FC236}">
                <a16:creationId xmlns:a16="http://schemas.microsoft.com/office/drawing/2014/main" id="{CD8A9804-D4C5-A7E2-3D5E-98724CFEA0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4265773" y="1134599"/>
            <a:ext cx="6829451" cy="506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8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9529E-8A96-E504-0181-EBF434AC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A315D-3000-1508-9429-385ED62705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742D9EF6-7DCC-8FFB-0140-D60E29B48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03545A-239D-04AD-1EC9-32A90702B657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The Goal Setting Process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C2C906-75F9-2A74-EC9A-D5D54087E8BD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BE4F79-32EF-1235-7F1E-0FC74E5E90FC}"/>
              </a:ext>
            </a:extLst>
          </p:cNvPr>
          <p:cNvSpPr txBox="1"/>
          <p:nvPr/>
        </p:nvSpPr>
        <p:spPr>
          <a:xfrm>
            <a:off x="1068512" y="996696"/>
            <a:ext cx="11219380" cy="6651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Outcome Goal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a clear long-term goal that you want to achieve.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Performance Goals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 down the outcome into 2–3 focused short-term goals that support it.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 Them into Process Goals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specific daily or weekly actions needed to achieve each performance goal.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 and Evaluate Regularly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 your progress, make adjustments if needed, and review your performance over time.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69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CF51-3D8C-5DE9-65E0-0A634BD0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271CE-C1B0-8098-F405-977EE28F2AB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21281F55-F293-2850-C402-6E6A99BB6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11180-10FE-63B1-C73C-33FCDB7DB408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Tracking Your Progress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DC119C-200C-E3ED-F9B9-D7CBE83CAD15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390AF5-6C75-BE3D-E0A5-AFEBBD8CBA92}"/>
              </a:ext>
            </a:extLst>
          </p:cNvPr>
          <p:cNvSpPr txBox="1"/>
          <p:nvPr/>
        </p:nvSpPr>
        <p:spPr>
          <a:xfrm>
            <a:off x="1222625" y="1134599"/>
            <a:ext cx="10969375" cy="570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 Goals into Smaller Tasks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 big goals into manageable steps to stay organized and motivated.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Daily/Weekly Review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Regularly check your progress to stay on track and maintain consistency.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Adjustments When Needed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flexible—revise your plan if something isn't working.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Effort, Not Just Outcome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Concentrate on consistent actions, as results will follow with steady effort.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73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5F16-5476-ED52-3EDC-5BE58BE3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6A28A-6C59-1668-FBC3-52AE02D3E8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E6AE0A8-024E-15F5-C685-B1A953477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AE3951-72C3-8E91-6979-54F57A04625E}"/>
              </a:ext>
            </a:extLst>
          </p:cNvPr>
          <p:cNvSpPr/>
          <p:nvPr/>
        </p:nvSpPr>
        <p:spPr>
          <a:xfrm>
            <a:off x="1510934" y="18289"/>
            <a:ext cx="8136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Challenges in Goal Setting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5CCEF4-6A26-31B5-8D3A-EE5D721BB661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7EE0B83-AF88-845F-F07E-EB661C253CE3}"/>
              </a:ext>
            </a:extLst>
          </p:cNvPr>
          <p:cNvSpPr txBox="1"/>
          <p:nvPr/>
        </p:nvSpPr>
        <p:spPr>
          <a:xfrm>
            <a:off x="1510934" y="996696"/>
            <a:ext cx="10797506" cy="562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Unclear Expectations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Goals that are vague or not well-defined can cause confusion and lack of focus.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Fear of Failure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Doubts or fear of not succeeding can stop you from even starting.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Lack of Tracking and Feedback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Without regular monitoring, it’s hard to measure progress or improve performance.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Procrastination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Delaying actions can prevent goals from being achieved on time.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519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1AA-79D3-267A-5A64-7D7A8845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A785E-2B41-7F7D-91ED-A9368D1330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B90E98CF-24F5-FCBD-B03F-00E3DE64A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DE3F32-E33F-4B52-41E3-112CC1082200}"/>
              </a:ext>
            </a:extLst>
          </p:cNvPr>
          <p:cNvSpPr/>
          <p:nvPr/>
        </p:nvSpPr>
        <p:spPr>
          <a:xfrm>
            <a:off x="1536191" y="297950"/>
            <a:ext cx="106558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1 -Step Goal Planner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EDBBC-38FA-6373-4C57-C6049B07C12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C06479-A90D-B8F1-A955-A0959F118B49}"/>
              </a:ext>
            </a:extLst>
          </p:cNvPr>
          <p:cNvSpPr txBox="1"/>
          <p:nvPr/>
        </p:nvSpPr>
        <p:spPr>
          <a:xfrm>
            <a:off x="1536190" y="1005836"/>
            <a:ext cx="10351010" cy="58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form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pairs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student selects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personal or academic goal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Improve English, Get a 9 SGPA).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the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3-Step Goal Planner template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they complete: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 Goal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Performance Goals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Process Goals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each performance goal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 give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each other’s plans.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Selected pairs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 their goals to the class for discussion.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setting SMART goals and breaking them into clear, actionable steps.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618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D031-0BF6-BF2A-1051-5139BFFD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7153B-C835-57A2-300B-9B14AA2B38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944CD63-D805-AD24-07A6-1C1CC241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D52E18-9917-7C7A-4FAF-143FF6033A88}"/>
              </a:ext>
            </a:extLst>
          </p:cNvPr>
          <p:cNvSpPr/>
          <p:nvPr/>
        </p:nvSpPr>
        <p:spPr>
          <a:xfrm>
            <a:off x="1536190" y="236306"/>
            <a:ext cx="97078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2 -Goal Mapping Wall</a:t>
            </a:r>
            <a:endParaRPr lang="en-IN" sz="4000" dirty="0"/>
          </a:p>
          <a:p>
            <a:endParaRPr lang="en-US" sz="4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78E8FB-3F32-5D92-9F5D-E0187B0465CB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AB436E-E225-3AEE-A7F6-4C4311AF81D2}"/>
              </a:ext>
            </a:extLst>
          </p:cNvPr>
          <p:cNvSpPr txBox="1"/>
          <p:nvPr/>
        </p:nvSpPr>
        <p:spPr>
          <a:xfrm>
            <a:off x="1536191" y="996696"/>
            <a:ext cx="10582655" cy="5903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 the class into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groups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(3–4 students each).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each group with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paper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space on a 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group chooses a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goal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"Crack campus placement", "Build a mini project", "Improve CGPA").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must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the path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this goal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 Goal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the top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Goals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middle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Goals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branches or steps underneath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the use of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symbols, arrows, and color coding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visualize steps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 their goal map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class.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649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1ECE-CCE6-963D-5F72-F61D79E22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B38E6-A07E-9392-8523-8062C87F4E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D693BB1-81D1-99FB-E3F3-39B54FB1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A3B2E2-1450-81CA-2ADA-78AD9D7D793F}"/>
              </a:ext>
            </a:extLst>
          </p:cNvPr>
          <p:cNvSpPr/>
          <p:nvPr/>
        </p:nvSpPr>
        <p:spPr>
          <a:xfrm>
            <a:off x="1536192" y="205482"/>
            <a:ext cx="87996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C4BE45-70E0-BC5A-90ED-6A69BBFBE6C4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DCB7DB-6621-5D76-3E8D-33800D73570C}"/>
              </a:ext>
            </a:extLst>
          </p:cNvPr>
          <p:cNvSpPr txBox="1"/>
          <p:nvPr/>
        </p:nvSpPr>
        <p:spPr>
          <a:xfrm>
            <a:off x="1371600" y="1228378"/>
            <a:ext cx="1005326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Recap of key points:</a:t>
            </a: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setting is a skill that brings clarity, direction, and confidence.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goals help make dreams achievable.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Tracking keeps motivation alive and helps evaluate progress..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915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58930" y="212868"/>
            <a:ext cx="5248776" cy="854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Learning Outcomes 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1051560"/>
            <a:ext cx="10125182" cy="4913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the end of this two-hour session, students will be able 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and classify short-term and long-term goals.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SMART criteria to write effective goals.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 down complex goals into actionable steps.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and adjust progress using tracking tools.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strategies to overcome setbacks and stay committed.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 algn="ctr"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Thank You </a:t>
            </a: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2AE0DF-6B5F-4274-A760-FE77CC84C90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38B8CBF-35BC-4CBA-95E2-584C08F618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27BAF2-BB0B-4E7B-AE5A-2E47729F98C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ModOverlayVTI</Template>
  <TotalTime>3052</TotalTime>
  <Words>1107</Words>
  <Application>Microsoft Office PowerPoint</Application>
  <PresentationFormat>Widescreen</PresentationFormat>
  <Paragraphs>145</Paragraphs>
  <Slides>17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Nova Light</vt:lpstr>
      <vt:lpstr>Calibri</vt:lpstr>
      <vt:lpstr>Elephant</vt:lpstr>
      <vt:lpstr>Symbol</vt:lpstr>
      <vt:lpstr>ModOverlayVTI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ABC</dc:creator>
  <cp:lastModifiedBy>MOHINI MACWAN</cp:lastModifiedBy>
  <cp:revision>140</cp:revision>
  <dcterms:created xsi:type="dcterms:W3CDTF">2024-01-11T09:03:24Z</dcterms:created>
  <dcterms:modified xsi:type="dcterms:W3CDTF">2025-05-29T09:04:26Z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