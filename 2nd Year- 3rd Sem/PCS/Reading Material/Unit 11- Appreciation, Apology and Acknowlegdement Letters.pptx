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Abril Fatface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jl2dv+eZsjczN9Af2G0VcHxZ/f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3ED11A-D981-420F-A3DC-53F740CBB042}">
  <a:tblStyle styleId="{613ED11A-D981-420F-A3DC-53F740CBB04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AbrilFatface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e4b884161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5e4b884161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35e4b884161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e4b884161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5e4b884161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35e4b884161_0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e4b884161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5e4b884161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g35e4b884161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5f7912973e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5f7912973e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5f7912973e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5e50e6c62b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5e50e6c62b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g35e50e6c62b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f7912973e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5f7912973e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g35f7912973e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5e4b884161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5e4b884161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35e4b884161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1" showMasterSp="0">
  <p:cSld name="About 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/>
          <p:nvPr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8991644" y="3657675"/>
            <a:ext cx="3200357" cy="3200320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2"/>
          <p:cNvSpPr/>
          <p:nvPr/>
        </p:nvSpPr>
        <p:spPr>
          <a:xfrm rot="10800000">
            <a:off x="0" y="-5"/>
            <a:ext cx="2286000" cy="2285973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1160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2"/>
          <p:cNvSpPr/>
          <p:nvPr/>
        </p:nvSpPr>
        <p:spPr>
          <a:xfrm rot="5400000">
            <a:off x="-433923" y="5546250"/>
            <a:ext cx="1745673" cy="877824"/>
          </a:xfrm>
          <a:custGeom>
            <a:rect b="b" l="l" r="r" t="t"/>
            <a:pathLst>
              <a:path extrusionOk="0" h="2285974" w="457200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823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2"/>
          <p:cNvSpPr txBox="1"/>
          <p:nvPr>
            <p:ph type="title"/>
          </p:nvPr>
        </p:nvSpPr>
        <p:spPr>
          <a:xfrm>
            <a:off x="1371599" y="1478396"/>
            <a:ext cx="3710355" cy="34452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5360465" y="1477963"/>
            <a:ext cx="5536135" cy="344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showMasterSp="0">
  <p:cSld name="1_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/>
          <p:nvPr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3"/>
          <p:cNvSpPr/>
          <p:nvPr/>
        </p:nvSpPr>
        <p:spPr>
          <a:xfrm rot="10800000">
            <a:off x="1" y="0"/>
            <a:ext cx="1745673" cy="877824"/>
          </a:xfrm>
          <a:custGeom>
            <a:rect b="b" l="l" r="r" t="t"/>
            <a:pathLst>
              <a:path extrusionOk="0" h="2285974" w="457200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823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3"/>
          <p:cNvSpPr/>
          <p:nvPr/>
        </p:nvSpPr>
        <p:spPr>
          <a:xfrm>
            <a:off x="8991644" y="3657688"/>
            <a:ext cx="3200357" cy="3200320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3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ctrTitle"/>
          </p:nvPr>
        </p:nvSpPr>
        <p:spPr>
          <a:xfrm>
            <a:off x="1249326" y="919716"/>
            <a:ext cx="8504275" cy="3551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subTitle"/>
          </p:nvPr>
        </p:nvSpPr>
        <p:spPr>
          <a:xfrm>
            <a:off x="1249326" y="4795284"/>
            <a:ext cx="8504275" cy="1084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 cap="none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8964706" y="6433202"/>
            <a:ext cx="2426446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11391152" y="6433203"/>
            <a:ext cx="702781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0" type="dt"/>
          </p:nvPr>
        </p:nvSpPr>
        <p:spPr>
          <a:xfrm>
            <a:off x="9323285" y="6434524"/>
            <a:ext cx="20678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1" type="ftr"/>
          </p:nvPr>
        </p:nvSpPr>
        <p:spPr>
          <a:xfrm>
            <a:off x="173736" y="6437376"/>
            <a:ext cx="37759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2" type="sldNum"/>
          </p:nvPr>
        </p:nvSpPr>
        <p:spPr>
          <a:xfrm>
            <a:off x="11391152" y="6434524"/>
            <a:ext cx="69326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/>
          <p:nvPr>
            <p:ph type="title"/>
          </p:nvPr>
        </p:nvSpPr>
        <p:spPr>
          <a:xfrm>
            <a:off x="1524000" y="1320800"/>
            <a:ext cx="9144000" cy="30958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" type="body"/>
          </p:nvPr>
        </p:nvSpPr>
        <p:spPr>
          <a:xfrm>
            <a:off x="1523999" y="4589463"/>
            <a:ext cx="9144001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" type="body"/>
          </p:nvPr>
        </p:nvSpPr>
        <p:spPr>
          <a:xfrm>
            <a:off x="1408813" y="2163725"/>
            <a:ext cx="4610986" cy="401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2" type="body"/>
          </p:nvPr>
        </p:nvSpPr>
        <p:spPr>
          <a:xfrm>
            <a:off x="6257260" y="2163725"/>
            <a:ext cx="4853763" cy="4013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18"/>
          <p:cNvSpPr txBox="1"/>
          <p:nvPr>
            <p:ph idx="2" type="body"/>
          </p:nvPr>
        </p:nvSpPr>
        <p:spPr>
          <a:xfrm>
            <a:off x="839788" y="2635623"/>
            <a:ext cx="5157787" cy="3554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8"/>
          <p:cNvSpPr txBox="1"/>
          <p:nvPr>
            <p:ph idx="4" type="body"/>
          </p:nvPr>
        </p:nvSpPr>
        <p:spPr>
          <a:xfrm>
            <a:off x="6172200" y="2635623"/>
            <a:ext cx="5183188" cy="355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2pPr>
            <a:lvl3pPr indent="-3810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7" name="Google Shape;77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21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5" name="Google Shape;85;p22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 rot="5400000">
            <a:off x="3948184" y="-1113097"/>
            <a:ext cx="4133481" cy="10192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8844703" y="3732560"/>
            <a:ext cx="3352193" cy="3125440"/>
          </a:xfrm>
          <a:custGeom>
            <a:rect b="b" l="l" r="r" t="t"/>
            <a:pathLst>
              <a:path extrusionOk="0" h="3125440" w="3352193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1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  <a:defRPr b="0" i="0" sz="4000" u="none" cap="none" strike="noStrike">
                <a:solidFill>
                  <a:schemeClr val="accent2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" type="body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1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pos="4416">
          <p15:clr>
            <a:srgbClr val="F26B43"/>
          </p15:clr>
        </p15:guide>
        <p15:guide id="7" pos="5568">
          <p15:clr>
            <a:srgbClr val="F26B43"/>
          </p15:clr>
        </p15:guide>
        <p15:guide id="8" pos="7296">
          <p15:clr>
            <a:srgbClr val="F26B43"/>
          </p15:clr>
        </p15:guide>
        <p15:guide id="9" pos="2688">
          <p15:clr>
            <a:srgbClr val="F26B43"/>
          </p15:clr>
        </p15:guide>
        <p15:guide id="10" pos="1536">
          <p15:clr>
            <a:srgbClr val="F26B43"/>
          </p15:clr>
        </p15:guide>
        <p15:guide id="11" pos="384">
          <p15:clr>
            <a:srgbClr val="F26B43"/>
          </p15:clr>
        </p15:guide>
        <p15:guide id="12" pos="2112">
          <p15:clr>
            <a:srgbClr val="F26B43"/>
          </p15:clr>
        </p15:guide>
        <p15:guide id="13" pos="4992">
          <p15:clr>
            <a:srgbClr val="F26B43"/>
          </p15:clr>
        </p15:guide>
        <p15:guide id="14" pos="6720">
          <p15:clr>
            <a:srgbClr val="F26B43"/>
          </p15:clr>
        </p15:guide>
        <p15:guide id="15" pos="960">
          <p15:clr>
            <a:srgbClr val="F26B43"/>
          </p15:clr>
        </p15:guide>
        <p15:guide id="16" pos="3264">
          <p15:clr>
            <a:srgbClr val="F26B43"/>
          </p15:clr>
        </p15:guide>
        <p15:guide id="17" orient="horz" pos="1008">
          <p15:clr>
            <a:srgbClr val="F26B43"/>
          </p15:clr>
        </p15:guide>
        <p15:guide id="18" orient="horz" pos="3888">
          <p15:clr>
            <a:srgbClr val="F26B43"/>
          </p15:clr>
        </p15:guide>
        <p15:guide id="19" pos="6144">
          <p15:clr>
            <a:srgbClr val="F26B43"/>
          </p15:clr>
        </p15:guide>
        <p15:guide id="20" orient="horz" pos="1584">
          <p15:clr>
            <a:srgbClr val="F26B43"/>
          </p15:clr>
        </p15:guide>
        <p15:guide id="21" pos="576">
          <p15:clr>
            <a:srgbClr val="F26B43"/>
          </p15:clr>
        </p15:guide>
        <p15:guide id="22" pos="7104">
          <p15:clr>
            <a:srgbClr val="F26B43"/>
          </p15:clr>
        </p15:guide>
        <p15:guide id="23" pos="768">
          <p15:clr>
            <a:srgbClr val="F26B43"/>
          </p15:clr>
        </p15:guide>
        <p15:guide id="24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dc logo png black (1).png" id="105" name="Google Shape;10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3456" y="85343"/>
            <a:ext cx="2761488" cy="134004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/>
          <p:nvPr/>
        </p:nvSpPr>
        <p:spPr>
          <a:xfrm>
            <a:off x="914400" y="1444752"/>
            <a:ext cx="9464040" cy="3724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en-IN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APPRECIATION, APOLOGY AND ACKNOWLEDGEMENT LETTERS</a:t>
            </a:r>
            <a:endParaRPr b="1"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t/>
            </a:r>
            <a:endParaRPr b="1"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Semester 3 - Professional Communication Skills  (303193203)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 </a:t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cdc logo png black (1).png" id="113" name="Google Shape;1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/>
          <p:nvPr/>
        </p:nvSpPr>
        <p:spPr>
          <a:xfrm>
            <a:off x="1510934" y="-103632"/>
            <a:ext cx="6005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IN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Topics to be Covered 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3"/>
          <p:cNvCxnSpPr/>
          <p:nvPr/>
        </p:nvCxnSpPr>
        <p:spPr>
          <a:xfrm>
            <a:off x="1536192" y="76809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" name="Google Shape;116;p3"/>
          <p:cNvSpPr txBox="1"/>
          <p:nvPr/>
        </p:nvSpPr>
        <p:spPr>
          <a:xfrm>
            <a:off x="1510916" y="809999"/>
            <a:ext cx="9500700" cy="6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b="0" i="0" lang="en-I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Objectives</a:t>
            </a:r>
            <a:endParaRPr sz="28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/>
              <a:t>Importance of Formal Letters in Engineering</a:t>
            </a:r>
            <a:endParaRPr sz="28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/>
              <a:t>What is an Appreciation Letter</a:t>
            </a:r>
            <a:endParaRPr sz="28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/>
              <a:t>Format of Appreciation Letter</a:t>
            </a:r>
            <a:endParaRPr sz="28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>
                <a:solidFill>
                  <a:schemeClr val="dk1"/>
                </a:solidFill>
              </a:rPr>
              <a:t>What is an Apology Letter</a:t>
            </a:r>
            <a:endParaRPr sz="2800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>
                <a:solidFill>
                  <a:schemeClr val="dk1"/>
                </a:solidFill>
              </a:rPr>
              <a:t>Format of Apology Letter</a:t>
            </a:r>
            <a:endParaRPr sz="2800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>
                <a:solidFill>
                  <a:schemeClr val="dk1"/>
                </a:solidFill>
              </a:rPr>
              <a:t>What is an Acknowledgement Letter</a:t>
            </a:r>
            <a:endParaRPr sz="2800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>
                <a:solidFill>
                  <a:schemeClr val="dk1"/>
                </a:solidFill>
              </a:rPr>
              <a:t>Format of Acknowledgement Letter</a:t>
            </a:r>
            <a:endParaRPr sz="2800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/>
              <a:t>Tone Comparison Table</a:t>
            </a:r>
            <a:endParaRPr sz="28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/>
              <a:t>Common Mistakes to Avoid</a:t>
            </a:r>
            <a:endParaRPr sz="28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/>
              <a:t>Resources for Practice</a:t>
            </a:r>
            <a:endParaRPr sz="28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b="0" i="0" lang="en-I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Activity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b="0" i="0" lang="en-I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b="0" i="0" lang="en-I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Outcomes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 </a:t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cdc logo png black (1).png" id="123" name="Google Shape;12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"/>
          <p:cNvSpPr/>
          <p:nvPr/>
        </p:nvSpPr>
        <p:spPr>
          <a:xfrm>
            <a:off x="1510934" y="268224"/>
            <a:ext cx="5612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IN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Objectives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2"/>
          <p:cNvCxnSpPr/>
          <p:nvPr/>
        </p:nvCxnSpPr>
        <p:spPr>
          <a:xfrm>
            <a:off x="1536192" y="114909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" name="Google Shape;126;p2"/>
          <p:cNvSpPr txBox="1"/>
          <p:nvPr/>
        </p:nvSpPr>
        <p:spPr>
          <a:xfrm>
            <a:off x="1143000" y="1645925"/>
            <a:ext cx="108585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Understand the purpose and format of appreciation, apology, </a:t>
            </a:r>
            <a:r>
              <a:rPr lang="en-IN" sz="2800">
                <a:solidFill>
                  <a:schemeClr val="dk1"/>
                </a:solidFill>
              </a:rPr>
              <a:t>a</a:t>
            </a:r>
            <a:r>
              <a:rPr lang="en-IN" sz="2800">
                <a:solidFill>
                  <a:schemeClr val="dk1"/>
                </a:solidFill>
              </a:rPr>
              <a:t>nd acknowledgement letters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Identify appropriate tones and phrases for each type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Write professional letters suited to academic or workplace settings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lang="en-IN" sz="2800">
                <a:solidFill>
                  <a:schemeClr val="dk1"/>
                </a:solidFill>
              </a:rPr>
              <a:t>Avoid common errors in formal correspondence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 txBox="1"/>
          <p:nvPr>
            <p:ph idx="1" type="body"/>
          </p:nvPr>
        </p:nvSpPr>
        <p:spPr>
          <a:xfrm>
            <a:off x="1219200" y="1557529"/>
            <a:ext cx="95250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Used in </a:t>
            </a:r>
            <a:r>
              <a:rPr b="1" lang="en-IN" sz="2800">
                <a:solidFill>
                  <a:schemeClr val="dk1"/>
                </a:solidFill>
              </a:rPr>
              <a:t>internships, job applications, complaints, project communication, client interaction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Demonstrates </a:t>
            </a:r>
            <a:r>
              <a:rPr b="1" lang="en-IN" sz="2800">
                <a:solidFill>
                  <a:schemeClr val="dk1"/>
                </a:solidFill>
              </a:rPr>
              <a:t>professionalism, empathy, and responsibility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Essential in building long-term </a:t>
            </a:r>
            <a:r>
              <a:rPr b="1" lang="en-IN" sz="2800">
                <a:solidFill>
                  <a:schemeClr val="dk1"/>
                </a:solidFill>
              </a:rPr>
              <a:t>relationships and trust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descr="cdc logo png black (1).png" id="133" name="Google Shape;1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/>
          <p:nvPr/>
        </p:nvSpPr>
        <p:spPr>
          <a:xfrm>
            <a:off x="1371600" y="179825"/>
            <a:ext cx="8579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-IN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Importance of Formal Letters in Engineering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4"/>
          <p:cNvCxnSpPr/>
          <p:nvPr/>
        </p:nvCxnSpPr>
        <p:spPr>
          <a:xfrm>
            <a:off x="1459992" y="175869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 txBox="1"/>
          <p:nvPr>
            <p:ph idx="1" type="body"/>
          </p:nvPr>
        </p:nvSpPr>
        <p:spPr>
          <a:xfrm>
            <a:off x="1333500" y="1293333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 </a:t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cdc logo png black (1).png" id="142" name="Google Shape;1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1510925" y="161550"/>
            <a:ext cx="8347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IN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an Appreciation Letter?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5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5" name="Google Shape;145;p5"/>
          <p:cNvSpPr txBox="1"/>
          <p:nvPr>
            <p:ph idx="1" type="body"/>
          </p:nvPr>
        </p:nvSpPr>
        <p:spPr>
          <a:xfrm>
            <a:off x="1371600" y="1405129"/>
            <a:ext cx="95250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</a:rPr>
              <a:t>Purpose: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To express gratitude formally for a service, help, achievement, or contribution.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</a:rPr>
              <a:t>Situations: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Thanking a mentor, professor, colleague, vendor, or team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Acknowledging effort in project completion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Corporate thank-you for services rendered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IN" sz="2800">
                <a:solidFill>
                  <a:schemeClr val="dk1"/>
                </a:solidFill>
              </a:rPr>
              <a:t>Tone:</a:t>
            </a:r>
            <a:r>
              <a:rPr lang="en-IN" sz="2800">
                <a:solidFill>
                  <a:schemeClr val="dk1"/>
                </a:solidFill>
              </a:rPr>
              <a:t> Sincere, polite, warm</a:t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 txBox="1"/>
          <p:nvPr>
            <p:ph idx="1" type="body"/>
          </p:nvPr>
        </p:nvSpPr>
        <p:spPr>
          <a:xfrm>
            <a:off x="1371600" y="1575817"/>
            <a:ext cx="9525000" cy="3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</a:rPr>
              <a:t>Structure: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AutoNum type="arabicPeriod"/>
            </a:pPr>
            <a:r>
              <a:rPr b="1" lang="en-IN" sz="2800">
                <a:solidFill>
                  <a:schemeClr val="dk1"/>
                </a:solidFill>
              </a:rPr>
              <a:t>Sender’s Address and Date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b="1" lang="en-IN" sz="2800">
                <a:solidFill>
                  <a:schemeClr val="dk1"/>
                </a:solidFill>
              </a:rPr>
              <a:t>Receiver’s Address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b="1" lang="en-IN" sz="2800">
                <a:solidFill>
                  <a:schemeClr val="dk1"/>
                </a:solidFill>
              </a:rPr>
              <a:t>Salutation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b="1" lang="en-IN" sz="2800">
                <a:solidFill>
                  <a:schemeClr val="dk1"/>
                </a:solidFill>
              </a:rPr>
              <a:t>Body:</a:t>
            </a:r>
            <a:endParaRPr b="1" sz="2800">
              <a:solidFill>
                <a:schemeClr val="dk1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IN" sz="2800">
                <a:solidFill>
                  <a:schemeClr val="dk1"/>
                </a:solidFill>
              </a:rPr>
              <a:t>Introduction</a:t>
            </a:r>
            <a:endParaRPr sz="2800">
              <a:solidFill>
                <a:schemeClr val="dk1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IN" sz="2800">
                <a:solidFill>
                  <a:schemeClr val="dk1"/>
                </a:solidFill>
              </a:rPr>
              <a:t>Reason for appreciation</a:t>
            </a:r>
            <a:endParaRPr sz="2800">
              <a:solidFill>
                <a:schemeClr val="dk1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IN" sz="2800">
                <a:solidFill>
                  <a:schemeClr val="dk1"/>
                </a:solidFill>
              </a:rPr>
              <a:t>Specific contribution or action</a:t>
            </a:r>
            <a:endParaRPr sz="2800">
              <a:solidFill>
                <a:schemeClr val="dk1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IN" sz="2800">
                <a:solidFill>
                  <a:schemeClr val="dk1"/>
                </a:solidFill>
              </a:rPr>
              <a:t>Closing thanks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b="1" lang="en-IN" sz="2800">
                <a:solidFill>
                  <a:schemeClr val="dk1"/>
                </a:solidFill>
              </a:rPr>
              <a:t>Complimentary Close and Signature</a:t>
            </a:r>
            <a:endParaRPr b="1" sz="2800">
              <a:solidFill>
                <a:schemeClr val="dk1"/>
              </a:solidFill>
            </a:endParaRPr>
          </a:p>
        </p:txBody>
      </p:sp>
      <p:pic>
        <p:nvPicPr>
          <p:cNvPr descr="cdc logo png black (1).png"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977524" y="137150"/>
            <a:ext cx="91572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IN" sz="4800"/>
              <a:t>Format of an Appreciation Letter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6"/>
          <p:cNvCxnSpPr/>
          <p:nvPr/>
        </p:nvCxnSpPr>
        <p:spPr>
          <a:xfrm>
            <a:off x="1459992" y="107289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 </a:t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cdc logo png black (1).png" id="161" name="Google Shape;1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8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8"/>
          <p:cNvSpPr/>
          <p:nvPr/>
        </p:nvSpPr>
        <p:spPr>
          <a:xfrm>
            <a:off x="1249475" y="170700"/>
            <a:ext cx="8211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-IN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an Apology Letter?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 txBox="1"/>
          <p:nvPr>
            <p:ph idx="1" type="body"/>
          </p:nvPr>
        </p:nvSpPr>
        <p:spPr>
          <a:xfrm>
            <a:off x="1089425" y="1423425"/>
            <a:ext cx="10894500" cy="3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</a:rPr>
              <a:t>Purpose: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To acknowledge a mistake or offense</a:t>
            </a:r>
            <a:r>
              <a:rPr lang="en-IN" sz="2800">
                <a:solidFill>
                  <a:schemeClr val="dk1"/>
                </a:solidFill>
              </a:rPr>
              <a:t> </a:t>
            </a:r>
            <a:r>
              <a:rPr lang="en-IN" sz="2800">
                <a:solidFill>
                  <a:schemeClr val="dk1"/>
                </a:solidFill>
              </a:rPr>
              <a:t>and express regret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</a:rPr>
              <a:t>Situations: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Delays in submissions or deliverables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Miscommunication with a professor or client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Team conflict resolution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Service failure or breach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IN" sz="2800">
                <a:solidFill>
                  <a:schemeClr val="dk1"/>
                </a:solidFill>
              </a:rPr>
              <a:t>Tone:</a:t>
            </a:r>
            <a:r>
              <a:rPr lang="en-IN" sz="2800">
                <a:solidFill>
                  <a:schemeClr val="dk1"/>
                </a:solidFill>
              </a:rPr>
              <a:t> Polite, responsible, sincere, humble</a:t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/>
          <p:nvPr>
            <p:ph idx="1" type="body"/>
          </p:nvPr>
        </p:nvSpPr>
        <p:spPr>
          <a:xfrm>
            <a:off x="1488950" y="1381408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</a:rPr>
              <a:t>Structure: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AutoNum type="arabicPeriod"/>
            </a:pPr>
            <a:r>
              <a:rPr b="1" lang="en-IN" sz="2800">
                <a:solidFill>
                  <a:schemeClr val="dk1"/>
                </a:solidFill>
              </a:rPr>
              <a:t>Sender’s Address and Date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b="1" lang="en-IN" sz="2800">
                <a:solidFill>
                  <a:schemeClr val="dk1"/>
                </a:solidFill>
              </a:rPr>
              <a:t>Receiver’s Address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b="1" lang="en-IN" sz="2800">
                <a:solidFill>
                  <a:schemeClr val="dk1"/>
                </a:solidFill>
              </a:rPr>
              <a:t>Salutation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b="1" lang="en-IN" sz="2800">
                <a:solidFill>
                  <a:schemeClr val="dk1"/>
                </a:solidFill>
              </a:rPr>
              <a:t>Body</a:t>
            </a:r>
            <a:r>
              <a:rPr b="1" lang="en-IN" sz="2800">
                <a:solidFill>
                  <a:schemeClr val="dk1"/>
                </a:solidFill>
              </a:rPr>
              <a:t>:</a:t>
            </a:r>
            <a:endParaRPr b="1" sz="2800">
              <a:solidFill>
                <a:schemeClr val="dk1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IN" sz="2800">
                <a:solidFill>
                  <a:schemeClr val="dk1"/>
                </a:solidFill>
              </a:rPr>
              <a:t>Reference to the issue</a:t>
            </a:r>
            <a:endParaRPr sz="2800">
              <a:solidFill>
                <a:schemeClr val="dk1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IN" sz="2800">
                <a:solidFill>
                  <a:schemeClr val="dk1"/>
                </a:solidFill>
              </a:rPr>
              <a:t>Apology and expression of regret</a:t>
            </a:r>
            <a:endParaRPr sz="2800">
              <a:solidFill>
                <a:schemeClr val="dk1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IN" sz="2800">
                <a:solidFill>
                  <a:schemeClr val="dk1"/>
                </a:solidFill>
              </a:rPr>
              <a:t>Explanation if needed (without making excuses)</a:t>
            </a:r>
            <a:endParaRPr sz="2800">
              <a:solidFill>
                <a:schemeClr val="dk1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IN" sz="2800">
                <a:solidFill>
                  <a:schemeClr val="dk1"/>
                </a:solidFill>
              </a:rPr>
              <a:t>Action taken to fix the issue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b="1" lang="en-IN" sz="2800">
                <a:solidFill>
                  <a:schemeClr val="dk1"/>
                </a:solidFill>
              </a:rPr>
              <a:t>Complimentary Close and Signature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descr="cdc logo png black (1).png" id="171" name="Google Shape;17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/>
          <p:nvPr/>
        </p:nvSpPr>
        <p:spPr>
          <a:xfrm>
            <a:off x="1510926" y="131075"/>
            <a:ext cx="8079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-IN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 of an Apology Letter</a:t>
            </a:r>
            <a:r>
              <a:rPr b="1" i="0" lang="en-IN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7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e4b884161_0_23"/>
          <p:cNvSpPr txBox="1"/>
          <p:nvPr>
            <p:ph idx="1" type="body"/>
          </p:nvPr>
        </p:nvSpPr>
        <p:spPr>
          <a:xfrm>
            <a:off x="1412750" y="1686208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</a:rPr>
              <a:t>Purpose: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To formally confirm receipt of something or recognition of a process or situation.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</a:rPr>
              <a:t>Situations: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Receiving an application, report, resignation, goods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Acknowledging complaints, payments, invitations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</a:rPr>
              <a:t>Tone:</a:t>
            </a:r>
            <a:r>
              <a:rPr lang="en-IN" sz="2800">
                <a:solidFill>
                  <a:schemeClr val="dk1"/>
                </a:solidFill>
              </a:rPr>
              <a:t> Neutral, professional, courteous</a:t>
            </a:r>
            <a:endParaRPr b="1" sz="28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IN" sz="2800"/>
              <a:t> </a:t>
            </a:r>
            <a:endParaRPr sz="2800"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/>
          </a:p>
        </p:txBody>
      </p:sp>
      <p:pic>
        <p:nvPicPr>
          <p:cNvPr descr="cdc logo png black (1).png" id="180" name="Google Shape;180;g35e4b884161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5e4b884161_0_23"/>
          <p:cNvSpPr/>
          <p:nvPr/>
        </p:nvSpPr>
        <p:spPr>
          <a:xfrm>
            <a:off x="1510926" y="-173725"/>
            <a:ext cx="8211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-IN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an Acknowledgement Letter?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g35e4b884161_0_23"/>
          <p:cNvCxnSpPr/>
          <p:nvPr/>
        </p:nvCxnSpPr>
        <p:spPr>
          <a:xfrm>
            <a:off x="1536192" y="137769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dc logo png black (1).png" id="188" name="Google Shape;188;g35e4b884161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5e4b884161_0_47"/>
          <p:cNvSpPr/>
          <p:nvPr/>
        </p:nvSpPr>
        <p:spPr>
          <a:xfrm>
            <a:off x="1031075" y="131075"/>
            <a:ext cx="9072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4800">
                <a:solidFill>
                  <a:schemeClr val="dk1"/>
                </a:solidFill>
              </a:rPr>
              <a:t>Format of an Acknowledgement Letter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g35e4b884161_0_47"/>
          <p:cNvCxnSpPr/>
          <p:nvPr/>
        </p:nvCxnSpPr>
        <p:spPr>
          <a:xfrm>
            <a:off x="1155192" y="175869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1" name="Google Shape;191;g35e4b884161_0_47"/>
          <p:cNvSpPr txBox="1"/>
          <p:nvPr>
            <p:ph idx="1" type="body"/>
          </p:nvPr>
        </p:nvSpPr>
        <p:spPr>
          <a:xfrm>
            <a:off x="1184150" y="1991008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</a:rPr>
              <a:t>Structure: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AutoNum type="arabicPeriod"/>
            </a:pPr>
            <a:r>
              <a:rPr b="1" lang="en-IN" sz="2800">
                <a:solidFill>
                  <a:schemeClr val="dk1"/>
                </a:solidFill>
              </a:rPr>
              <a:t>Sender’s Address and Date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b="1" lang="en-IN" sz="2800">
                <a:solidFill>
                  <a:schemeClr val="dk1"/>
                </a:solidFill>
              </a:rPr>
              <a:t>Receiver’s Address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b="1" lang="en-IN" sz="2800">
                <a:solidFill>
                  <a:schemeClr val="dk1"/>
                </a:solidFill>
              </a:rPr>
              <a:t>Salutation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b="1" lang="en-IN" sz="2800">
                <a:solidFill>
                  <a:schemeClr val="dk1"/>
                </a:solidFill>
              </a:rPr>
              <a:t>Body:</a:t>
            </a:r>
            <a:endParaRPr b="1" sz="2800">
              <a:solidFill>
                <a:schemeClr val="dk1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IN" sz="2800">
                <a:solidFill>
                  <a:schemeClr val="dk1"/>
                </a:solidFill>
              </a:rPr>
              <a:t>Confirm receipt or awareness</a:t>
            </a:r>
            <a:endParaRPr sz="2800">
              <a:solidFill>
                <a:schemeClr val="dk1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IN" sz="2800">
                <a:solidFill>
                  <a:schemeClr val="dk1"/>
                </a:solidFill>
              </a:rPr>
              <a:t>Provide relevant details (document name, date, etc.)</a:t>
            </a:r>
            <a:endParaRPr sz="2800">
              <a:solidFill>
                <a:schemeClr val="dk1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IN" sz="2800">
                <a:solidFill>
                  <a:schemeClr val="dk1"/>
                </a:solidFill>
              </a:rPr>
              <a:t>Indicate next steps if any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b="1" lang="en-IN" sz="2800">
                <a:solidFill>
                  <a:schemeClr val="dk1"/>
                </a:solidFill>
              </a:rPr>
              <a:t>Complimentary Close and Signature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dc logo png black (1).png" id="197" name="Google Shape;197;g35e4b884161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5e4b884161_0_31"/>
          <p:cNvSpPr/>
          <p:nvPr/>
        </p:nvSpPr>
        <p:spPr>
          <a:xfrm>
            <a:off x="866800" y="131075"/>
            <a:ext cx="952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IN" sz="4800">
                <a:solidFill>
                  <a:schemeClr val="dk1"/>
                </a:solidFill>
              </a:rPr>
              <a:t>Tone Comparison Table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g35e4b884161_0_31"/>
          <p:cNvCxnSpPr/>
          <p:nvPr/>
        </p:nvCxnSpPr>
        <p:spPr>
          <a:xfrm>
            <a:off x="1536192" y="99669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200" name="Google Shape;200;g35e4b884161_0_31"/>
          <p:cNvGraphicFramePr/>
          <p:nvPr/>
        </p:nvGraphicFramePr>
        <p:xfrm>
          <a:off x="914375" y="138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{613ED11A-D981-420F-A3DC-53F740CBB042}</a:tableStyleId>
              </a:tblPr>
              <a:tblGrid>
                <a:gridCol w="2199100"/>
                <a:gridCol w="2109700"/>
                <a:gridCol w="6722400"/>
              </a:tblGrid>
              <a:tr h="87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800"/>
                        <a:t>Type</a:t>
                      </a:r>
                      <a:endParaRPr b="1" sz="2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800"/>
                        <a:t>Tone</a:t>
                      </a:r>
                      <a:endParaRPr b="1" sz="2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800"/>
                        <a:t>Key Phrases</a:t>
                      </a:r>
                      <a:endParaRPr b="1" sz="2800"/>
                    </a:p>
                  </a:txBody>
                  <a:tcPr marT="91425" marB="91425" marR="91425" marL="91425"/>
                </a:tc>
              </a:tr>
              <a:tr h="140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/>
                        <a:t>Appreciation</a:t>
                      </a:r>
                      <a:endParaRPr sz="2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/>
                        <a:t>Warm, respectful</a:t>
                      </a:r>
                      <a:endParaRPr sz="2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/>
                        <a:t>"Thank you for...", "We appreciate..."</a:t>
                      </a:r>
                      <a:endParaRPr sz="2800"/>
                    </a:p>
                  </a:txBody>
                  <a:tcPr marT="91425" marB="91425" marR="91425" marL="91425"/>
                </a:tc>
              </a:tr>
              <a:tr h="140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/>
                        <a:t>Apology</a:t>
                      </a:r>
                      <a:endParaRPr sz="2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/>
                        <a:t>Sincere, humble</a:t>
                      </a:r>
                      <a:endParaRPr sz="2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/>
                        <a:t>"I sincerely apologize...", "We regret the inconvenience..."</a:t>
                      </a:r>
                      <a:endParaRPr sz="2800"/>
                    </a:p>
                  </a:txBody>
                  <a:tcPr marT="91425" marB="91425" marR="91425" marL="91425"/>
                </a:tc>
              </a:tr>
              <a:tr h="140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/>
                        <a:t>Acknowledgement</a:t>
                      </a:r>
                      <a:endParaRPr sz="2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/>
                        <a:t>Formal, courteous</a:t>
                      </a:r>
                      <a:endParaRPr sz="2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/>
                        <a:t>"We acknowledge receipt...", "This is to confirm..."</a:t>
                      </a:r>
                      <a:endParaRPr sz="2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01" name="Google Shape;201;g35e4b884161_0_31"/>
          <p:cNvCxnSpPr/>
          <p:nvPr/>
        </p:nvCxnSpPr>
        <p:spPr>
          <a:xfrm flipH="1">
            <a:off x="3214550" y="1464475"/>
            <a:ext cx="18000" cy="501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g35e4b884161_0_31"/>
          <p:cNvCxnSpPr/>
          <p:nvPr/>
        </p:nvCxnSpPr>
        <p:spPr>
          <a:xfrm flipH="1">
            <a:off x="5195750" y="1464475"/>
            <a:ext cx="18000" cy="501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g35e4b884161_0_31"/>
          <p:cNvCxnSpPr/>
          <p:nvPr/>
        </p:nvCxnSpPr>
        <p:spPr>
          <a:xfrm>
            <a:off x="982275" y="2053825"/>
            <a:ext cx="11090700" cy="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f7912973e_0_24"/>
          <p:cNvSpPr txBox="1"/>
          <p:nvPr>
            <p:ph idx="1" type="body"/>
          </p:nvPr>
        </p:nvSpPr>
        <p:spPr>
          <a:xfrm>
            <a:off x="1184150" y="1381408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Being too casual or informal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Using unclear or passive language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Missing important details (date, purpose)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Over-apologizing or justifying too much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Grammatical or formatting errors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descr="cdc logo png black (1).png" id="210" name="Google Shape;210;g35f7912973e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5f7912973e_0_24"/>
          <p:cNvSpPr/>
          <p:nvPr/>
        </p:nvSpPr>
        <p:spPr>
          <a:xfrm>
            <a:off x="1095400" y="131075"/>
            <a:ext cx="952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IN" sz="4800">
                <a:solidFill>
                  <a:schemeClr val="dk1"/>
                </a:solidFill>
              </a:rPr>
              <a:t>Common Mistakes to Avoid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g35f7912973e_0_24"/>
          <p:cNvCxnSpPr/>
          <p:nvPr/>
        </p:nvCxnSpPr>
        <p:spPr>
          <a:xfrm>
            <a:off x="1231392" y="99669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e50e6c62b_0_18"/>
          <p:cNvSpPr txBox="1"/>
          <p:nvPr>
            <p:ph idx="1" type="body"/>
          </p:nvPr>
        </p:nvSpPr>
        <p:spPr>
          <a:xfrm>
            <a:off x="1184150" y="1610008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NPTEL Communication Skills Course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Purdue OWL (Online Writing Lab)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Business Communication Textbooks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Grammarly or Hemingway Editor (for proofreading)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Real company letter templates (HR, admin)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descr="cdc logo png black (1).png" id="219" name="Google Shape;219;g35e50e6c62b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5e50e6c62b_0_18"/>
          <p:cNvSpPr/>
          <p:nvPr/>
        </p:nvSpPr>
        <p:spPr>
          <a:xfrm>
            <a:off x="1095400" y="131075"/>
            <a:ext cx="952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IN" sz="4800">
                <a:solidFill>
                  <a:schemeClr val="dk1"/>
                </a:solidFill>
              </a:rPr>
              <a:t>Resources for Practice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g35e50e6c62b_0_18"/>
          <p:cNvCxnSpPr/>
          <p:nvPr/>
        </p:nvCxnSpPr>
        <p:spPr>
          <a:xfrm>
            <a:off x="1231392" y="107289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5f7912973e_0_40"/>
          <p:cNvSpPr txBox="1"/>
          <p:nvPr>
            <p:ph idx="1" type="body"/>
          </p:nvPr>
        </p:nvSpPr>
        <p:spPr>
          <a:xfrm>
            <a:off x="1488950" y="1457608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</a:rPr>
              <a:t>Task:</a:t>
            </a:r>
            <a:r>
              <a:rPr lang="en-IN" sz="2800">
                <a:solidFill>
                  <a:schemeClr val="dk1"/>
                </a:solidFill>
              </a:rPr>
              <a:t> Write one of the following letters: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>
                <a:solidFill>
                  <a:schemeClr val="dk1"/>
                </a:solidFill>
              </a:rPr>
              <a:t>Appreciation to a professor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>
                <a:solidFill>
                  <a:schemeClr val="dk1"/>
                </a:solidFill>
              </a:rPr>
              <a:t>Apology to a teammate for missing a deadline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>
                <a:solidFill>
                  <a:schemeClr val="dk1"/>
                </a:solidFill>
              </a:rPr>
              <a:t>Acknowledgement of receiving internship confirmation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</a:rPr>
              <a:t>Time:</a:t>
            </a:r>
            <a:r>
              <a:rPr lang="en-IN" sz="2800">
                <a:solidFill>
                  <a:schemeClr val="dk1"/>
                </a:solidFill>
              </a:rPr>
              <a:t> 10–15 minutes</a:t>
            </a:r>
            <a:br>
              <a:rPr lang="en-IN" sz="2800">
                <a:solidFill>
                  <a:schemeClr val="dk1"/>
                </a:solidFill>
              </a:rPr>
            </a:br>
            <a:r>
              <a:rPr lang="en-IN" sz="2800">
                <a:solidFill>
                  <a:schemeClr val="dk1"/>
                </a:solidFill>
              </a:rPr>
              <a:t> </a:t>
            </a:r>
            <a:r>
              <a:rPr b="1" lang="en-IN" sz="2800">
                <a:solidFill>
                  <a:schemeClr val="dk1"/>
                </a:solidFill>
              </a:rPr>
              <a:t>Then:</a:t>
            </a:r>
            <a:r>
              <a:rPr lang="en-IN" sz="2800">
                <a:solidFill>
                  <a:schemeClr val="dk1"/>
                </a:solidFill>
              </a:rPr>
              <a:t> Exchange with a partner and give feedback on tone and clarity.</a:t>
            </a:r>
            <a:endParaRPr b="1" sz="28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IN" sz="2800"/>
              <a:t> </a:t>
            </a:r>
            <a:endParaRPr sz="2800"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/>
          </a:p>
        </p:txBody>
      </p:sp>
      <p:pic>
        <p:nvPicPr>
          <p:cNvPr descr="cdc logo png black (1).png" id="228" name="Google Shape;228;g35f7912973e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5f7912973e_0_40"/>
          <p:cNvSpPr/>
          <p:nvPr/>
        </p:nvSpPr>
        <p:spPr>
          <a:xfrm>
            <a:off x="1476400" y="131075"/>
            <a:ext cx="952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 Time!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g35f7912973e_0_40"/>
          <p:cNvCxnSpPr/>
          <p:nvPr/>
        </p:nvCxnSpPr>
        <p:spPr>
          <a:xfrm>
            <a:off x="1536192" y="99669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5e4b884161_0_89"/>
          <p:cNvSpPr txBox="1"/>
          <p:nvPr>
            <p:ph idx="1" type="body"/>
          </p:nvPr>
        </p:nvSpPr>
        <p:spPr>
          <a:xfrm>
            <a:off x="1488950" y="1457608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Appreciation, Apology, and Acknowledgement Letters are vital tools for professional communication.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Each has a </a:t>
            </a:r>
            <a:r>
              <a:rPr b="1" lang="en-IN" sz="2800">
                <a:solidFill>
                  <a:schemeClr val="dk1"/>
                </a:solidFill>
              </a:rPr>
              <a:t>specific purpose</a:t>
            </a:r>
            <a:r>
              <a:rPr lang="en-IN" sz="2800">
                <a:solidFill>
                  <a:schemeClr val="dk1"/>
                </a:solidFill>
              </a:rPr>
              <a:t> and follows a </a:t>
            </a:r>
            <a:r>
              <a:rPr b="1" lang="en-IN" sz="2800">
                <a:solidFill>
                  <a:schemeClr val="dk1"/>
                </a:solidFill>
              </a:rPr>
              <a:t>clear format</a:t>
            </a:r>
            <a:r>
              <a:rPr lang="en-IN" sz="2800">
                <a:solidFill>
                  <a:schemeClr val="dk1"/>
                </a:solidFill>
              </a:rPr>
              <a:t>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The tone must be appropriate to the context: </a:t>
            </a:r>
            <a:r>
              <a:rPr b="1" lang="en-IN" sz="2800">
                <a:solidFill>
                  <a:schemeClr val="dk1"/>
                </a:solidFill>
              </a:rPr>
              <a:t>grateful, apologetic, or neutral</a:t>
            </a:r>
            <a:r>
              <a:rPr lang="en-IN" sz="2800">
                <a:solidFill>
                  <a:schemeClr val="dk1"/>
                </a:solidFill>
              </a:rPr>
              <a:t>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Practicing these helps build effective writing habits for real-world scenarios</a:t>
            </a:r>
            <a:r>
              <a:rPr lang="en-IN" sz="2800">
                <a:solidFill>
                  <a:schemeClr val="dk1"/>
                </a:solidFill>
              </a:rPr>
              <a:t>.</a:t>
            </a:r>
            <a:endParaRPr b="1" sz="2800">
              <a:solidFill>
                <a:schemeClr val="dk1"/>
              </a:solidFill>
            </a:endParaRPr>
          </a:p>
          <a:p>
            <a:pPr indent="-114300" lvl="0" marL="2286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/>
          </a:p>
        </p:txBody>
      </p:sp>
      <p:pic>
        <p:nvPicPr>
          <p:cNvPr descr="cdc logo png black (1).png" id="237" name="Google Shape;237;g35e4b884161_0_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5e4b884161_0_89"/>
          <p:cNvSpPr/>
          <p:nvPr/>
        </p:nvSpPr>
        <p:spPr>
          <a:xfrm>
            <a:off x="1476400" y="207275"/>
            <a:ext cx="952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g35e4b884161_0_89"/>
          <p:cNvCxnSpPr/>
          <p:nvPr/>
        </p:nvCxnSpPr>
        <p:spPr>
          <a:xfrm>
            <a:off x="1536192" y="107289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IN" sz="48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descr="cdc logo png black (1).png" id="246" name="Google Shape;2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7" name="Google Shape;247;p9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8" name="Google Shape;248;p9"/>
          <p:cNvSpPr/>
          <p:nvPr/>
        </p:nvSpPr>
        <p:spPr>
          <a:xfrm>
            <a:off x="1636776" y="235958"/>
            <a:ext cx="507093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IN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Outcomes 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 txBox="1"/>
          <p:nvPr/>
        </p:nvSpPr>
        <p:spPr>
          <a:xfrm>
            <a:off x="1322775" y="1243575"/>
            <a:ext cx="10335600" cy="29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Understood types and purposes of formal letters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Learned the correct tone and structure for each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Practiced writing clear and effective letters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lang="en-IN" sz="2800">
                <a:solidFill>
                  <a:schemeClr val="dk1"/>
                </a:solidFill>
              </a:rPr>
              <a:t>Prepared for academic and professional communication demands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IN" sz="48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8600" lvl="0" marL="22860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4800"/>
              <a:buNone/>
            </a:pPr>
            <a:r>
              <a:rPr lang="en-IN" sz="4800">
                <a:latin typeface="Calibri"/>
                <a:ea typeface="Calibri"/>
                <a:cs typeface="Calibri"/>
                <a:sym typeface="Calibri"/>
              </a:rPr>
              <a:t>Thank You </a:t>
            </a:r>
            <a:endParaRPr/>
          </a:p>
        </p:txBody>
      </p:sp>
      <p:pic>
        <p:nvPicPr>
          <p:cNvPr descr="cdc logo png black (1).png" id="256" name="Google Shape;25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" name="Google Shape;257;p10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OverlayVTI">
  <a:themeElements>
    <a:clrScheme name="Custom 50">
      <a:dk1>
        <a:srgbClr val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2024-01-11T09:03:24Z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