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Abril Fatfac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5YU4OjQ2nVItsvIdt+mz98ZFL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brilFatface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e4b88416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5e4b88416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5e4b884161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e4b884161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5e4b884161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5e4b884161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e4b884161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5e4b884161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5e4b884161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f7912973e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5f7912973e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5f7912973e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e50e6c62b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5e50e6c62b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5e50e6c62b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f7912973e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5f7912973e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5f7912973e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7912973e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5f7912973e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5f7912973e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e4b884161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5e4b884161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5e4b884161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2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2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3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8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2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456" y="85343"/>
            <a:ext cx="2761488" cy="134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2"/>
            <a:ext cx="9464040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IN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VOCABULARY BUILDING</a:t>
            </a:r>
            <a:r>
              <a:rPr b="1" i="0" lang="en-IN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Semester 3 - Professional Communication Skills  (303193203)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/>
          <p:nvPr/>
        </p:nvSpPr>
        <p:spPr>
          <a:xfrm>
            <a:off x="1510934" y="-103632"/>
            <a:ext cx="600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1536192" y="7680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3"/>
          <p:cNvSpPr txBox="1"/>
          <p:nvPr/>
        </p:nvSpPr>
        <p:spPr>
          <a:xfrm>
            <a:off x="1510916" y="809999"/>
            <a:ext cx="9500700" cy="6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Importance of Vocabulary for Engineers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Types of Vocabulary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Common Sources of New Words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Techniques to BUild Vocabulary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Understanding Context Clues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Fun Ways to Learn Vocabulary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Using Vocabulary in Daily Life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Do’s and Dont’s of Vocabulary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Sample Vocabulary Excercise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Learning Outcomes</a:t>
            </a:r>
            <a:endParaRPr sz="2800"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23" name="Google Shape;1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/>
          <p:nvPr/>
        </p:nvSpPr>
        <p:spPr>
          <a:xfrm>
            <a:off x="1510934" y="-112776"/>
            <a:ext cx="5612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"/>
          <p:cNvCxnSpPr/>
          <p:nvPr/>
        </p:nvCxnSpPr>
        <p:spPr>
          <a:xfrm>
            <a:off x="1536192" y="7680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2"/>
          <p:cNvSpPr txBox="1"/>
          <p:nvPr/>
        </p:nvSpPr>
        <p:spPr>
          <a:xfrm>
            <a:off x="1143000" y="960125"/>
            <a:ext cx="10858500" cy="59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Understand</a:t>
            </a:r>
            <a:r>
              <a:rPr lang="en-IN" sz="2800">
                <a:solidFill>
                  <a:schemeClr val="dk1"/>
                </a:solidFill>
              </a:rPr>
              <a:t> the importance of vocabulary building in academic, technical, and professional communication.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Distinguish</a:t>
            </a:r>
            <a:r>
              <a:rPr lang="en-IN" sz="2800">
                <a:solidFill>
                  <a:schemeClr val="dk1"/>
                </a:solidFill>
              </a:rPr>
              <a:t> between different types of vocabulary (active, passive, general, technical).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Apply</a:t>
            </a:r>
            <a:r>
              <a:rPr lang="en-IN" sz="2800">
                <a:solidFill>
                  <a:schemeClr val="dk1"/>
                </a:solidFill>
              </a:rPr>
              <a:t> effective strategies to learn, retain, and use new words in context.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Use</a:t>
            </a:r>
            <a:r>
              <a:rPr lang="en-IN" sz="2800">
                <a:solidFill>
                  <a:schemeClr val="dk1"/>
                </a:solidFill>
              </a:rPr>
              <a:t> context clues, root words, prefixes, and suffixes </a:t>
            </a:r>
            <a:r>
              <a:rPr lang="en-IN" sz="2800">
                <a:solidFill>
                  <a:schemeClr val="dk1"/>
                </a:solidFill>
              </a:rPr>
              <a:t>t</a:t>
            </a:r>
            <a:r>
              <a:rPr lang="en-IN" sz="2800">
                <a:solidFill>
                  <a:schemeClr val="dk1"/>
                </a:solidFill>
              </a:rPr>
              <a:t>o decode unfamiliar words.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Identify</a:t>
            </a:r>
            <a:r>
              <a:rPr lang="en-IN" sz="2800">
                <a:solidFill>
                  <a:schemeClr val="dk1"/>
                </a:solidFill>
              </a:rPr>
              <a:t> reliable resources and tools to build vocabulary systematically.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Incorporate</a:t>
            </a:r>
            <a:r>
              <a:rPr lang="en-IN" sz="2800">
                <a:solidFill>
                  <a:schemeClr val="dk1"/>
                </a:solidFill>
              </a:rPr>
              <a:t> new vocabulary into writing, speaking, and technical documentation.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idx="1" type="body"/>
          </p:nvPr>
        </p:nvSpPr>
        <p:spPr>
          <a:xfrm>
            <a:off x="1371600" y="1633729"/>
            <a:ext cx="95250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Enhances </a:t>
            </a:r>
            <a:r>
              <a:rPr b="1" lang="en-IN" sz="2800">
                <a:solidFill>
                  <a:schemeClr val="dk1"/>
                </a:solidFill>
              </a:rPr>
              <a:t>technical communication</a:t>
            </a:r>
            <a:r>
              <a:rPr lang="en-IN" sz="2800">
                <a:solidFill>
                  <a:schemeClr val="dk1"/>
                </a:solidFill>
              </a:rPr>
              <a:t> (reports, documentation).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Helps in </a:t>
            </a:r>
            <a:r>
              <a:rPr b="1" lang="en-IN" sz="2800">
                <a:solidFill>
                  <a:schemeClr val="dk1"/>
                </a:solidFill>
              </a:rPr>
              <a:t>presentations, interviews, and group discussions</a:t>
            </a:r>
            <a:r>
              <a:rPr lang="en-IN" sz="2800">
                <a:solidFill>
                  <a:schemeClr val="dk1"/>
                </a:solidFill>
              </a:rPr>
              <a:t>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Boosts </a:t>
            </a:r>
            <a:r>
              <a:rPr b="1" lang="en-IN" sz="2800">
                <a:solidFill>
                  <a:schemeClr val="dk1"/>
                </a:solidFill>
              </a:rPr>
              <a:t>reading comprehension</a:t>
            </a:r>
            <a:r>
              <a:rPr lang="en-IN" sz="2800">
                <a:solidFill>
                  <a:schemeClr val="dk1"/>
                </a:solidFill>
              </a:rPr>
              <a:t> for academic texts.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Improves </a:t>
            </a:r>
            <a:r>
              <a:rPr b="1" lang="en-IN" sz="2800">
                <a:solidFill>
                  <a:schemeClr val="dk1"/>
                </a:solidFill>
              </a:rPr>
              <a:t>writing quality</a:t>
            </a:r>
            <a:r>
              <a:rPr lang="en-IN" sz="2800">
                <a:solidFill>
                  <a:schemeClr val="dk1"/>
                </a:solidFill>
              </a:rPr>
              <a:t> for research papers and resumes.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Essential for </a:t>
            </a:r>
            <a:r>
              <a:rPr b="1" lang="en-IN" sz="2800">
                <a:solidFill>
                  <a:schemeClr val="dk1"/>
                </a:solidFill>
              </a:rPr>
              <a:t>competitive exams</a:t>
            </a:r>
            <a:r>
              <a:rPr lang="en-IN" sz="2800">
                <a:solidFill>
                  <a:schemeClr val="dk1"/>
                </a:solidFill>
              </a:rPr>
              <a:t> (GRE, CAT, GATE, etc.).</a:t>
            </a:r>
            <a:endParaRPr sz="2800"/>
          </a:p>
        </p:txBody>
      </p:sp>
      <p:pic>
        <p:nvPicPr>
          <p:cNvPr descr="cdc logo png black (1).png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1371600" y="179825"/>
            <a:ext cx="8579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of Vocabulary for Engineers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4"/>
          <p:cNvCxnSpPr/>
          <p:nvPr/>
        </p:nvCxnSpPr>
        <p:spPr>
          <a:xfrm>
            <a:off x="1459992" y="18348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1333500" y="1293333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1510920" y="161550"/>
            <a:ext cx="732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Vocabulary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1371600" y="1252729"/>
            <a:ext cx="95250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Active Vocabulary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Words you use confidently in speaking or writing.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Passive Vocabulary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Words you understand but rarely use.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General Vocabulary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Common words used in everyday contexts.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Technical Vocabulary</a:t>
            </a:r>
            <a:endParaRPr b="1" sz="28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○"/>
            </a:pPr>
            <a:r>
              <a:rPr lang="en-IN" sz="2800">
                <a:solidFill>
                  <a:schemeClr val="dk1"/>
                </a:solidFill>
              </a:rPr>
              <a:t>Discipline-specific terms (e.g., algorithm, torque, circuit).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1371600" y="1575817"/>
            <a:ext cx="9525000" cy="3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</a:rPr>
              <a:t>Academic reading</a:t>
            </a:r>
            <a:r>
              <a:rPr lang="en-IN" sz="2800">
                <a:solidFill>
                  <a:schemeClr val="dk1"/>
                </a:solidFill>
              </a:rPr>
              <a:t> (textbooks, journals)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</a:rPr>
              <a:t>Magazines/newspapers</a:t>
            </a:r>
            <a:r>
              <a:rPr lang="en-IN" sz="2800">
                <a:solidFill>
                  <a:schemeClr val="dk1"/>
                </a:solidFill>
              </a:rPr>
              <a:t> (The Hindu, IEEE Spectrum)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</a:rPr>
              <a:t>Conversations and lectures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</a:rPr>
              <a:t>Online resources</a:t>
            </a:r>
            <a:r>
              <a:rPr lang="en-IN" sz="2800">
                <a:solidFill>
                  <a:schemeClr val="dk1"/>
                </a:solidFill>
              </a:rPr>
              <a:t> (blogs, forums, e-learning platforms)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</a:rPr>
              <a:t>Vocabulary apps</a:t>
            </a:r>
            <a:r>
              <a:rPr lang="en-IN" sz="2800">
                <a:solidFill>
                  <a:schemeClr val="dk1"/>
                </a:solidFill>
              </a:rPr>
              <a:t> (Magoosh, Vocabulary.com)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IN" sz="2800">
                <a:solidFill>
                  <a:schemeClr val="dk1"/>
                </a:solidFill>
              </a:rPr>
              <a:t>Word-a-Day tools</a:t>
            </a:r>
            <a:r>
              <a:rPr lang="en-IN" sz="2800">
                <a:solidFill>
                  <a:schemeClr val="dk1"/>
                </a:solidFill>
              </a:rPr>
              <a:t> (Merriam-Webster, Oxford)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977524" y="137150"/>
            <a:ext cx="91572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/>
              <a:t>Common Sources of New Words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>
            <a:off x="1459992" y="10728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8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8"/>
          <p:cNvSpPr/>
          <p:nvPr/>
        </p:nvSpPr>
        <p:spPr>
          <a:xfrm>
            <a:off x="1249475" y="170700"/>
            <a:ext cx="821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 to Build Vocabulary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>
            <p:ph idx="1" type="body"/>
          </p:nvPr>
        </p:nvSpPr>
        <p:spPr>
          <a:xfrm>
            <a:off x="1089425" y="1042425"/>
            <a:ext cx="10894500" cy="3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Reading Regularly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Engage with varied texts: fiction, non-fiction, articles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Context Clues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Understand word meaning through surrounding text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Use a Vocabulary Journal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Note: Word – Meaning – Sentence – Synonyms/Antonyms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Root Words, Prefixes, Suffixes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E.g., </a:t>
            </a:r>
            <a:r>
              <a:rPr i="1" lang="en-IN" sz="2800">
                <a:solidFill>
                  <a:schemeClr val="dk1"/>
                </a:solidFill>
              </a:rPr>
              <a:t>bio</a:t>
            </a:r>
            <a:r>
              <a:rPr lang="en-IN" sz="2800">
                <a:solidFill>
                  <a:schemeClr val="dk1"/>
                </a:solidFill>
              </a:rPr>
              <a:t> = life, </a:t>
            </a:r>
            <a:r>
              <a:rPr i="1" lang="en-IN" sz="2800">
                <a:solidFill>
                  <a:schemeClr val="dk1"/>
                </a:solidFill>
              </a:rPr>
              <a:t>-logy</a:t>
            </a:r>
            <a:r>
              <a:rPr lang="en-IN" sz="2800">
                <a:solidFill>
                  <a:schemeClr val="dk1"/>
                </a:solidFill>
              </a:rPr>
              <a:t> = study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>
            <p:ph idx="1" type="body"/>
          </p:nvPr>
        </p:nvSpPr>
        <p:spPr>
          <a:xfrm>
            <a:off x="879350" y="13814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Flashcards</a:t>
            </a:r>
            <a:r>
              <a:rPr lang="en-IN" sz="2800">
                <a:solidFill>
                  <a:schemeClr val="dk1"/>
                </a:solidFill>
              </a:rPr>
              <a:t> (physical or digital)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Thematic Learning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Group words by topic</a:t>
            </a:r>
            <a:r>
              <a:rPr lang="en-IN" sz="2800">
                <a:solidFill>
                  <a:schemeClr val="dk1"/>
                </a:solidFill>
              </a:rPr>
              <a:t>s: </a:t>
            </a:r>
            <a:r>
              <a:rPr lang="en-IN" sz="2800">
                <a:solidFill>
                  <a:schemeClr val="dk1"/>
                </a:solidFill>
              </a:rPr>
              <a:t>Engineering, Emotions, Business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Active Use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Speak or write with new words to retain them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1510926" y="131075"/>
            <a:ext cx="807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echniques to Build Vocabulary</a:t>
            </a: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e4b884161_0_23"/>
          <p:cNvSpPr txBox="1"/>
          <p:nvPr>
            <p:ph idx="1" type="body"/>
          </p:nvPr>
        </p:nvSpPr>
        <p:spPr>
          <a:xfrm>
            <a:off x="1412750" y="14576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Learn to </a:t>
            </a:r>
            <a:r>
              <a:rPr b="1" lang="en-IN" sz="2800">
                <a:solidFill>
                  <a:schemeClr val="dk1"/>
                </a:solidFill>
              </a:rPr>
              <a:t>guess word meaning</a:t>
            </a:r>
            <a:r>
              <a:rPr lang="en-IN" sz="2800">
                <a:solidFill>
                  <a:schemeClr val="dk1"/>
                </a:solidFill>
              </a:rPr>
              <a:t> by its context: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Definition:</a:t>
            </a:r>
            <a:r>
              <a:rPr lang="en-IN" sz="2800">
                <a:solidFill>
                  <a:schemeClr val="dk1"/>
                </a:solidFill>
              </a:rPr>
              <a:t> “Photosynthesis, the process by which plants make food...”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Synonym:</a:t>
            </a:r>
            <a:r>
              <a:rPr lang="en-IN" sz="2800">
                <a:solidFill>
                  <a:schemeClr val="dk1"/>
                </a:solidFill>
              </a:rPr>
              <a:t> “The circuit was erratic, or unpredictable.”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Antonym:</a:t>
            </a:r>
            <a:r>
              <a:rPr lang="en-IN" sz="2800">
                <a:solidFill>
                  <a:schemeClr val="dk1"/>
                </a:solidFill>
              </a:rPr>
              <a:t> “Unlike the flexible material, the structure was rigid.”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Example:</a:t>
            </a:r>
            <a:r>
              <a:rPr lang="en-IN" sz="2800">
                <a:solidFill>
                  <a:schemeClr val="dk1"/>
                </a:solidFill>
              </a:rPr>
              <a:t> “Smartphones like iPhones and Samsungs are ubiquitous today.”</a:t>
            </a:r>
            <a:endParaRPr sz="28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180" name="Google Shape;180;g35e4b884161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5e4b884161_0_23"/>
          <p:cNvSpPr/>
          <p:nvPr/>
        </p:nvSpPr>
        <p:spPr>
          <a:xfrm>
            <a:off x="1510926" y="131075"/>
            <a:ext cx="821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Context Clues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5e4b884161_0_23"/>
          <p:cNvCxnSpPr/>
          <p:nvPr/>
        </p:nvCxnSpPr>
        <p:spPr>
          <a:xfrm>
            <a:off x="1536192" y="996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88" name="Google Shape;188;g35e4b884161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5e4b884161_0_47"/>
          <p:cNvSpPr/>
          <p:nvPr/>
        </p:nvSpPr>
        <p:spPr>
          <a:xfrm>
            <a:off x="1031075" y="131075"/>
            <a:ext cx="9072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Fun Ways to Learn Vocabulary</a:t>
            </a: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g35e4b884161_0_47"/>
          <p:cNvCxnSpPr/>
          <p:nvPr/>
        </p:nvCxnSpPr>
        <p:spPr>
          <a:xfrm>
            <a:off x="1536192" y="996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g35e4b884161_0_47"/>
          <p:cNvSpPr txBox="1"/>
          <p:nvPr>
            <p:ph idx="1" type="body"/>
          </p:nvPr>
        </p:nvSpPr>
        <p:spPr>
          <a:xfrm>
            <a:off x="1412750" y="14576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Crossword puzzles and word games</a:t>
            </a:r>
            <a:r>
              <a:rPr lang="en-IN" sz="2800">
                <a:solidFill>
                  <a:schemeClr val="dk1"/>
                </a:solidFill>
              </a:rPr>
              <a:t> (Wordle, Scrabble)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Vocabulary quizzes &amp; apps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Watching TED Talks or documentaries</a:t>
            </a:r>
            <a:r>
              <a:rPr lang="en-IN" sz="2800">
                <a:solidFill>
                  <a:schemeClr val="dk1"/>
                </a:solidFill>
              </a:rPr>
              <a:t> (pause and note new words)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Join reading/writing clubs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Social media &amp; YouTube vocabulary channels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Gamified learning tools</a:t>
            </a:r>
            <a:r>
              <a:rPr lang="en-IN" sz="2800">
                <a:solidFill>
                  <a:schemeClr val="dk1"/>
                </a:solidFill>
              </a:rPr>
              <a:t> like Kahoot or Quizlet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e4b884161_0_31"/>
          <p:cNvSpPr txBox="1"/>
          <p:nvPr>
            <p:ph idx="1" type="body"/>
          </p:nvPr>
        </p:nvSpPr>
        <p:spPr>
          <a:xfrm>
            <a:off x="1488950" y="13052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Replace simple words with better alternatives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i="1" lang="en-IN" sz="2800">
                <a:solidFill>
                  <a:schemeClr val="dk1"/>
                </a:solidFill>
              </a:rPr>
              <a:t>Good</a:t>
            </a:r>
            <a:r>
              <a:rPr lang="en-IN" sz="2800">
                <a:solidFill>
                  <a:schemeClr val="dk1"/>
                </a:solidFill>
              </a:rPr>
              <a:t> → </a:t>
            </a:r>
            <a:r>
              <a:rPr i="1" lang="en-IN" sz="2800">
                <a:solidFill>
                  <a:schemeClr val="dk1"/>
                </a:solidFill>
              </a:rPr>
              <a:t>Exceptional</a:t>
            </a:r>
            <a:endParaRPr i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i="1" lang="en-IN" sz="2800">
                <a:solidFill>
                  <a:schemeClr val="dk1"/>
                </a:solidFill>
              </a:rPr>
              <a:t>Fast</a:t>
            </a:r>
            <a:r>
              <a:rPr lang="en-IN" sz="2800">
                <a:solidFill>
                  <a:schemeClr val="dk1"/>
                </a:solidFill>
              </a:rPr>
              <a:t> → </a:t>
            </a:r>
            <a:r>
              <a:rPr i="1" lang="en-IN" sz="2800">
                <a:solidFill>
                  <a:schemeClr val="dk1"/>
                </a:solidFill>
              </a:rPr>
              <a:t>Rapid</a:t>
            </a:r>
            <a:endParaRPr i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i="1" lang="en-IN" sz="2800">
                <a:solidFill>
                  <a:schemeClr val="dk1"/>
                </a:solidFill>
              </a:rPr>
              <a:t>Important</a:t>
            </a:r>
            <a:r>
              <a:rPr lang="en-IN" sz="2800">
                <a:solidFill>
                  <a:schemeClr val="dk1"/>
                </a:solidFill>
              </a:rPr>
              <a:t> → </a:t>
            </a:r>
            <a:r>
              <a:rPr i="1" lang="en-IN" sz="2800">
                <a:solidFill>
                  <a:schemeClr val="dk1"/>
                </a:solidFill>
              </a:rPr>
              <a:t>Crucial</a:t>
            </a:r>
            <a:endParaRPr i="1"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 in: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lang="en-IN" sz="2800">
                <a:solidFill>
                  <a:schemeClr val="dk1"/>
                </a:solidFill>
              </a:rPr>
              <a:t>Emails and Reports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lang="en-IN" sz="2800">
                <a:solidFill>
                  <a:schemeClr val="dk1"/>
                </a:solidFill>
              </a:rPr>
              <a:t>Group Discussions (GD)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lang="en-IN" sz="2800">
                <a:solidFill>
                  <a:schemeClr val="dk1"/>
                </a:solidFill>
              </a:rPr>
              <a:t>Project Presentations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lang="en-IN" sz="2800">
                <a:solidFill>
                  <a:schemeClr val="dk1"/>
                </a:solidFill>
              </a:rPr>
              <a:t>LinkedIn/Resume writing</a:t>
            </a:r>
            <a:endParaRPr sz="28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198" name="Google Shape;198;g35e4b884161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5e4b884161_0_31"/>
          <p:cNvSpPr/>
          <p:nvPr/>
        </p:nvSpPr>
        <p:spPr>
          <a:xfrm>
            <a:off x="8668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Using Vocabulary in Daily Life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5e4b884161_0_31"/>
          <p:cNvCxnSpPr/>
          <p:nvPr/>
        </p:nvCxnSpPr>
        <p:spPr>
          <a:xfrm>
            <a:off x="1536192" y="996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f7912973e_0_24"/>
          <p:cNvSpPr txBox="1"/>
          <p:nvPr>
            <p:ph idx="1" type="body"/>
          </p:nvPr>
        </p:nvSpPr>
        <p:spPr>
          <a:xfrm>
            <a:off x="1184150" y="19910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DOs: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Be consistent (5 new words/day)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Practice writing with new words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 words in speech and writing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Review regularly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207" name="Google Shape;207;g35f7912973e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5f7912973e_0_24"/>
          <p:cNvSpPr/>
          <p:nvPr/>
        </p:nvSpPr>
        <p:spPr>
          <a:xfrm>
            <a:off x="1095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Do’s and Don’ts of Vocabulary Building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g35f7912973e_0_24"/>
          <p:cNvCxnSpPr/>
          <p:nvPr/>
        </p:nvCxnSpPr>
        <p:spPr>
          <a:xfrm>
            <a:off x="1231392" y="18348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e50e6c62b_0_18"/>
          <p:cNvSpPr txBox="1"/>
          <p:nvPr>
            <p:ph idx="1" type="body"/>
          </p:nvPr>
        </p:nvSpPr>
        <p:spPr>
          <a:xfrm>
            <a:off x="1184150" y="20672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DON’Ts: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Memorize without context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 big words unnecessarily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Learn too many words at once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Ignore spelling or pronunciation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descr="cdc logo png black (1).png" id="216" name="Google Shape;216;g35e50e6c62b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5e50e6c62b_0_18"/>
          <p:cNvSpPr/>
          <p:nvPr/>
        </p:nvSpPr>
        <p:spPr>
          <a:xfrm>
            <a:off x="1095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Do’s and Don’ts of Vocabulary Building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g35e50e6c62b_0_18"/>
          <p:cNvCxnSpPr/>
          <p:nvPr/>
        </p:nvCxnSpPr>
        <p:spPr>
          <a:xfrm>
            <a:off x="1231392" y="18348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f7912973e_0_32"/>
          <p:cNvSpPr txBox="1"/>
          <p:nvPr>
            <p:ph idx="1" type="body"/>
          </p:nvPr>
        </p:nvSpPr>
        <p:spPr>
          <a:xfrm>
            <a:off x="1488950" y="10766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Word:</a:t>
            </a:r>
            <a:r>
              <a:rPr lang="en-IN" sz="2800">
                <a:solidFill>
                  <a:schemeClr val="dk1"/>
                </a:solidFill>
              </a:rPr>
              <a:t> “Feasible”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Meaning: Possible, doable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Synonyms: Practical, viable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Sentence: “The team proposed a feasible solution for the energy crisis.”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dk1"/>
                </a:solidFill>
              </a:rPr>
              <a:t>Task:</a:t>
            </a:r>
            <a:r>
              <a:rPr lang="en-IN" sz="2800">
                <a:solidFill>
                  <a:schemeClr val="dk1"/>
                </a:solidFill>
              </a:rPr>
              <a:t> Students</a:t>
            </a:r>
            <a:r>
              <a:rPr lang="en-IN" sz="2800">
                <a:solidFill>
                  <a:schemeClr val="dk1"/>
                </a:solidFill>
              </a:rPr>
              <a:t> </a:t>
            </a:r>
            <a:r>
              <a:rPr lang="en-IN" sz="2800">
                <a:solidFill>
                  <a:schemeClr val="dk1"/>
                </a:solidFill>
              </a:rPr>
              <a:t>write similar entries for: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Resilient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Optimize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Redundant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Constraint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Innovate</a:t>
            </a:r>
            <a:endParaRPr sz="28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225" name="Google Shape;225;g35f7912973e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5f7912973e_0_32"/>
          <p:cNvSpPr/>
          <p:nvPr/>
        </p:nvSpPr>
        <p:spPr>
          <a:xfrm>
            <a:off x="1400200" y="548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IN" sz="4800">
                <a:solidFill>
                  <a:schemeClr val="dk1"/>
                </a:solidFill>
              </a:rPr>
              <a:t>Sample Vocabulary Exercise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g35f7912973e_0_32"/>
          <p:cNvCxnSpPr/>
          <p:nvPr/>
        </p:nvCxnSpPr>
        <p:spPr>
          <a:xfrm>
            <a:off x="1536192" y="9204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f7912973e_0_40"/>
          <p:cNvSpPr txBox="1"/>
          <p:nvPr>
            <p:ph idx="1" type="body"/>
          </p:nvPr>
        </p:nvSpPr>
        <p:spPr>
          <a:xfrm>
            <a:off x="1488950" y="13052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Activity:</a:t>
            </a:r>
            <a:r>
              <a:rPr lang="en-IN" sz="2800">
                <a:solidFill>
                  <a:schemeClr val="dk1"/>
                </a:solidFill>
              </a:rPr>
              <a:t> Vocabulary Bingo or Word Relay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Objective:</a:t>
            </a:r>
            <a:r>
              <a:rPr lang="en-IN" sz="2800">
                <a:solidFill>
                  <a:schemeClr val="dk1"/>
                </a:solidFill>
              </a:rPr>
              <a:t> Reinforce word recognition, synonyms, usage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IN" sz="2800">
                <a:solidFill>
                  <a:schemeClr val="dk1"/>
                </a:solidFill>
              </a:rPr>
              <a:t>Materials:</a:t>
            </a:r>
            <a:r>
              <a:rPr lang="en-IN" sz="2800">
                <a:solidFill>
                  <a:schemeClr val="dk1"/>
                </a:solidFill>
              </a:rPr>
              <a:t> Flashcards, whiteboard, or quiz platform</a:t>
            </a:r>
            <a:endParaRPr sz="28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234" name="Google Shape;234;g35f7912973e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5f7912973e_0_40"/>
          <p:cNvSpPr/>
          <p:nvPr/>
        </p:nvSpPr>
        <p:spPr>
          <a:xfrm>
            <a:off x="1476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Time!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g35f7912973e_0_40"/>
          <p:cNvCxnSpPr/>
          <p:nvPr/>
        </p:nvCxnSpPr>
        <p:spPr>
          <a:xfrm>
            <a:off x="1536192" y="9966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e4b884161_0_89"/>
          <p:cNvSpPr txBox="1"/>
          <p:nvPr>
            <p:ph idx="1" type="body"/>
          </p:nvPr>
        </p:nvSpPr>
        <p:spPr>
          <a:xfrm>
            <a:off x="879350" y="10004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Vocabulary is vital for effective communication in engineering.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Learn through reading, context, usage, and revision.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 digital tools, apps, and games to make learning fun.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Apply new words actively to retain them longer.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 rich vocabulary improves confidence and clarity.</a:t>
            </a:r>
            <a:endParaRPr sz="2800"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243" name="Google Shape;243;g35e4b884161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5e4b884161_0_89"/>
          <p:cNvSpPr/>
          <p:nvPr/>
        </p:nvSpPr>
        <p:spPr>
          <a:xfrm>
            <a:off x="1476400" y="-17372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g35e4b884161_0_89"/>
          <p:cNvCxnSpPr/>
          <p:nvPr/>
        </p:nvCxnSpPr>
        <p:spPr>
          <a:xfrm>
            <a:off x="1536192" y="76809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descr="cdc logo png black (1).png" id="252" name="Google Shape;2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9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p9"/>
          <p:cNvSpPr/>
          <p:nvPr/>
        </p:nvSpPr>
        <p:spPr>
          <a:xfrm>
            <a:off x="1636776" y="235958"/>
            <a:ext cx="507093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Outcomes 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1322775" y="1243575"/>
            <a:ext cx="10335600" cy="3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Understand the importance of vocabulary building in academic and professional settings.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Identify effective strategies to expand and retain vocabulary.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 context clues to understand unfamiliar words.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Apply learned vocabulary in writing, presentations, and interviews.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Utilize resources and tools to systematically build vocabulary.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descr="cdc logo png black (1).png" id="262" name="Google Shape;2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10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