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Abril Fatface" panose="020F0502020204030204" pitchFamily="3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gu65UJNRYNOO5kc+36ij8B4ol3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587E97-8D03-44D0-B33E-CD3A29D07DC2}">
  <a:tblStyle styleId="{B7587E97-8D03-44D0-B33E-CD3A29D07D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9"/>
  </p:normalViewPr>
  <p:slideViewPr>
    <p:cSldViewPr snapToGrid="0">
      <p:cViewPr varScale="1">
        <p:scale>
          <a:sx n="90" d="100"/>
          <a:sy n="90" d="100"/>
        </p:scale>
        <p:origin x="232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e4b88416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35e4b884161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5e4b884161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e4b88416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35e4b884161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g35e4b884161_0_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e4b88416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35e4b884161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5e4b884161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f7912973e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35f7912973e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g35f7912973e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e50e6c62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35e50e6c62b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g35e50e6c62b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f7912973e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35f7912973e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g35f7912973e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f7912973e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5f7912973e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g35f7912973e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5e4b884161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g35e4b884161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5" name="Google Shape;245;g35e4b884161_0_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4" name="Google Shape;26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bout 1">
  <p:cSld name="About 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/>
          <p:nvPr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8991644" y="3657675"/>
            <a:ext cx="3200357" cy="3200320"/>
          </a:xfrm>
          <a:custGeom>
            <a:avLst/>
            <a:gdLst/>
            <a:ahLst/>
            <a:cxnLst/>
            <a:rect l="l" t="t" r="r" b="b"/>
            <a:pathLst>
              <a:path w="3200357" h="3200320" extrusionOk="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2"/>
          <p:cNvSpPr/>
          <p:nvPr/>
        </p:nvSpPr>
        <p:spPr>
          <a:xfrm rot="10800000">
            <a:off x="0" y="-5"/>
            <a:ext cx="2286000" cy="2285973"/>
          </a:xfrm>
          <a:custGeom>
            <a:avLst/>
            <a:gdLst/>
            <a:ahLst/>
            <a:cxnLst/>
            <a:rect l="l" t="t" r="r" b="b"/>
            <a:pathLst>
              <a:path w="3200357" h="3200320" extrusionOk="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1160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2"/>
          <p:cNvSpPr/>
          <p:nvPr/>
        </p:nvSpPr>
        <p:spPr>
          <a:xfrm rot="5400000">
            <a:off x="-433923" y="5546250"/>
            <a:ext cx="1745673" cy="877824"/>
          </a:xfrm>
          <a:custGeom>
            <a:avLst/>
            <a:gdLst/>
            <a:ahLst/>
            <a:cxnLst/>
            <a:rect l="l" t="t" r="r" b="b"/>
            <a:pathLst>
              <a:path w="4572000" h="2285974" extrusionOk="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862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1371599" y="1478396"/>
            <a:ext cx="3710355" cy="344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body" idx="1"/>
          </p:nvPr>
        </p:nvSpPr>
        <p:spPr>
          <a:xfrm>
            <a:off x="5360465" y="1477963"/>
            <a:ext cx="5536135" cy="344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sldNum" idx="12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>
  <p:cSld name="1_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/>
          <p:nvPr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rgbClr val="0B4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3"/>
          <p:cNvSpPr/>
          <p:nvPr/>
        </p:nvSpPr>
        <p:spPr>
          <a:xfrm rot="10800000">
            <a:off x="1" y="0"/>
            <a:ext cx="1745673" cy="877824"/>
          </a:xfrm>
          <a:custGeom>
            <a:avLst/>
            <a:gdLst/>
            <a:ahLst/>
            <a:cxnLst/>
            <a:rect l="l" t="t" r="r" b="b"/>
            <a:pathLst>
              <a:path w="4572000" h="2285974" extrusionOk="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862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3"/>
          <p:cNvSpPr/>
          <p:nvPr/>
        </p:nvSpPr>
        <p:spPr>
          <a:xfrm>
            <a:off x="8991644" y="3657688"/>
            <a:ext cx="3200357" cy="3200320"/>
          </a:xfrm>
          <a:custGeom>
            <a:avLst/>
            <a:gdLst/>
            <a:ahLst/>
            <a:cxnLst/>
            <a:rect l="l" t="t" r="r" b="b"/>
            <a:pathLst>
              <a:path w="3200357" h="3200320" extrusionOk="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dt" idx="10"/>
          </p:nvPr>
        </p:nvSpPr>
        <p:spPr>
          <a:xfrm>
            <a:off x="8964706" y="6433202"/>
            <a:ext cx="2426446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11391152" y="6433203"/>
            <a:ext cx="702781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dt" idx="10"/>
          </p:nvPr>
        </p:nvSpPr>
        <p:spPr>
          <a:xfrm>
            <a:off x="9323285" y="6434524"/>
            <a:ext cx="20678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ftr" idx="11"/>
          </p:nvPr>
        </p:nvSpPr>
        <p:spPr>
          <a:xfrm>
            <a:off x="173736" y="6437376"/>
            <a:ext cx="37759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sldNum" idx="12"/>
          </p:nvPr>
        </p:nvSpPr>
        <p:spPr>
          <a:xfrm>
            <a:off x="11391152" y="6434524"/>
            <a:ext cx="69326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body" idx="1"/>
          </p:nvPr>
        </p:nvSpPr>
        <p:spPr>
          <a:xfrm>
            <a:off x="1408813" y="2163725"/>
            <a:ext cx="4610986" cy="40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body" idx="2"/>
          </p:nvPr>
        </p:nvSpPr>
        <p:spPr>
          <a:xfrm>
            <a:off x="6257260" y="2163725"/>
            <a:ext cx="4853763" cy="401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body" idx="2"/>
          </p:nvPr>
        </p:nvSpPr>
        <p:spPr>
          <a:xfrm>
            <a:off x="839788" y="2635623"/>
            <a:ext cx="5157787" cy="3554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4"/>
          </p:nvPr>
        </p:nvSpPr>
        <p:spPr>
          <a:xfrm>
            <a:off x="6172200" y="2635623"/>
            <a:ext cx="5183188" cy="355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2pPr>
            <a:lvl3pPr marL="1371600" lvl="2" indent="-381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body" idx="1"/>
          </p:nvPr>
        </p:nvSpPr>
        <p:spPr>
          <a:xfrm rot="5400000">
            <a:off x="3948184" y="-1113097"/>
            <a:ext cx="4133481" cy="10192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3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8844703" y="3732560"/>
            <a:ext cx="3352193" cy="3125440"/>
          </a:xfrm>
          <a:custGeom>
            <a:avLst/>
            <a:gdLst/>
            <a:ahLst/>
            <a:cxnLst/>
            <a:rect l="l" t="t" r="r" b="b"/>
            <a:pathLst>
              <a:path w="3352193" h="3125440" extrusionOk="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1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sz="4000" b="0" i="0" u="none" strike="noStrike" cap="none">
                <a:solidFill>
                  <a:schemeClr val="accent2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pos="4416">
          <p15:clr>
            <a:srgbClr val="F26B43"/>
          </p15:clr>
        </p15:guide>
        <p15:guide id="7" pos="5568">
          <p15:clr>
            <a:srgbClr val="F26B43"/>
          </p15:clr>
        </p15:guide>
        <p15:guide id="8" pos="7296">
          <p15:clr>
            <a:srgbClr val="F26B43"/>
          </p15:clr>
        </p15:guide>
        <p15:guide id="9" pos="2688">
          <p15:clr>
            <a:srgbClr val="F26B43"/>
          </p15:clr>
        </p15:guide>
        <p15:guide id="10" pos="1536">
          <p15:clr>
            <a:srgbClr val="F26B43"/>
          </p15:clr>
        </p15:guide>
        <p15:guide id="11" pos="384">
          <p15:clr>
            <a:srgbClr val="F26B43"/>
          </p15:clr>
        </p15:guide>
        <p15:guide id="12" pos="2112">
          <p15:clr>
            <a:srgbClr val="F26B43"/>
          </p15:clr>
        </p15:guide>
        <p15:guide id="13" pos="4992">
          <p15:clr>
            <a:srgbClr val="F26B43"/>
          </p15:clr>
        </p15:guide>
        <p15:guide id="14" pos="6720">
          <p15:clr>
            <a:srgbClr val="F26B43"/>
          </p15:clr>
        </p15:guide>
        <p15:guide id="15" pos="960">
          <p15:clr>
            <a:srgbClr val="F26B43"/>
          </p15:clr>
        </p15:guide>
        <p15:guide id="16" pos="3264">
          <p15:clr>
            <a:srgbClr val="F26B43"/>
          </p15:clr>
        </p15:guide>
        <p15:guide id="17" orient="horz" pos="1008">
          <p15:clr>
            <a:srgbClr val="F26B43"/>
          </p15:clr>
        </p15:guide>
        <p15:guide id="18" orient="horz" pos="3888">
          <p15:clr>
            <a:srgbClr val="F26B43"/>
          </p15:clr>
        </p15:guide>
        <p15:guide id="19" pos="6144">
          <p15:clr>
            <a:srgbClr val="F26B43"/>
          </p15:clr>
        </p15:guide>
        <p15:guide id="20" orient="horz" pos="1584">
          <p15:clr>
            <a:srgbClr val="F26B43"/>
          </p15:clr>
        </p15:guide>
        <p15:guide id="21" pos="576">
          <p15:clr>
            <a:srgbClr val="F26B43"/>
          </p15:clr>
        </p15:guide>
        <p15:guide id="22" pos="7104">
          <p15:clr>
            <a:srgbClr val="F26B43"/>
          </p15:clr>
        </p15:guide>
        <p15:guide id="23" pos="768">
          <p15:clr>
            <a:srgbClr val="F26B43"/>
          </p15:clr>
        </p15:guide>
        <p15:guide id="24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pexels.com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63456" y="85343"/>
            <a:ext cx="2761488" cy="134004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/>
          <p:nvPr/>
        </p:nvSpPr>
        <p:spPr>
          <a:xfrm>
            <a:off x="914400" y="1444752"/>
            <a:ext cx="9464040" cy="372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IN" sz="5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PICTURE PERCEPTION</a:t>
            </a:r>
            <a:r>
              <a:rPr lang="en-IN" sz="5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5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Semester 3 - Professional Communication Skills  (303193203)</a:t>
            </a: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>
            <a:spLocks noGrp="1"/>
          </p:cNvSpPr>
          <p:nvPr>
            <p:ph type="body" idx="1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 </a:t>
            </a:r>
            <a:endParaRPr/>
          </a:p>
          <a:p>
            <a:pPr marL="228600" lvl="0" indent="-1143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228600" lvl="0" indent="-1143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pic>
        <p:nvPicPr>
          <p:cNvPr id="113" name="Google Shape;113;p3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/>
          <p:nvPr/>
        </p:nvSpPr>
        <p:spPr>
          <a:xfrm>
            <a:off x="1510934" y="-103632"/>
            <a:ext cx="6005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IN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Topics to be Covered </a:t>
            </a:r>
            <a:endParaRPr sz="4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3"/>
          <p:cNvCxnSpPr/>
          <p:nvPr/>
        </p:nvCxnSpPr>
        <p:spPr>
          <a:xfrm>
            <a:off x="1536192" y="768096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6" name="Google Shape;116;p3"/>
          <p:cNvSpPr txBox="1"/>
          <p:nvPr/>
        </p:nvSpPr>
        <p:spPr>
          <a:xfrm>
            <a:off x="1510916" y="1038599"/>
            <a:ext cx="9500700" cy="65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IN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Objectives</a:t>
            </a:r>
            <a:endParaRPr sz="280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What is Picture Perception</a:t>
            </a:r>
            <a:endParaRPr sz="280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Importance for Engineers</a:t>
            </a:r>
            <a:endParaRPr sz="280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Observation Skills: Step 1</a:t>
            </a:r>
            <a:endParaRPr sz="280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Interpretation Skills: Step 2</a:t>
            </a:r>
            <a:endParaRPr sz="280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Story Building: Step 3</a:t>
            </a:r>
            <a:endParaRPr sz="280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The PPDT Method</a:t>
            </a:r>
            <a:endParaRPr sz="280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Tips to Improve Picture Perception</a:t>
            </a:r>
            <a:endParaRPr sz="280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Common Mistakes</a:t>
            </a:r>
            <a:endParaRPr sz="280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/>
              <a:t>Picture Perception in Professional Settings</a:t>
            </a:r>
            <a:endParaRPr sz="280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IN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Activity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IN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</a:pPr>
            <a:r>
              <a:rPr lang="en-IN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Outcomes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 txBox="1">
            <a:spLocks noGrp="1"/>
          </p:cNvSpPr>
          <p:nvPr>
            <p:ph type="body" idx="1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 </a:t>
            </a:r>
            <a:endParaRPr/>
          </a:p>
          <a:p>
            <a:pPr marL="228600" lvl="0" indent="-1143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228600" lvl="0" indent="-1143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pic>
        <p:nvPicPr>
          <p:cNvPr id="123" name="Google Shape;123;p2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"/>
          <p:cNvSpPr/>
          <p:nvPr/>
        </p:nvSpPr>
        <p:spPr>
          <a:xfrm>
            <a:off x="1510934" y="-112776"/>
            <a:ext cx="5612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IN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 sz="4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2"/>
          <p:cNvCxnSpPr/>
          <p:nvPr/>
        </p:nvCxnSpPr>
        <p:spPr>
          <a:xfrm>
            <a:off x="1536192" y="768096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6" name="Google Shape;126;p2"/>
          <p:cNvSpPr txBox="1"/>
          <p:nvPr/>
        </p:nvSpPr>
        <p:spPr>
          <a:xfrm>
            <a:off x="1143000" y="1112525"/>
            <a:ext cx="10858500" cy="3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Understand the concept and process of picture perception.</a:t>
            </a:r>
            <a:br>
              <a:rPr lang="en-I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Analyze visual stimuli critically and systematically.</a:t>
            </a:r>
            <a:br>
              <a:rPr lang="en-I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Build coherent and creative narratives based on visual inputs.</a:t>
            </a:r>
            <a:br>
              <a:rPr lang="en-I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Enhance observation, interpretation, and imagination skills.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>
            <a:spLocks noGrp="1"/>
          </p:cNvSpPr>
          <p:nvPr>
            <p:ph type="body" idx="1"/>
          </p:nvPr>
        </p:nvSpPr>
        <p:spPr>
          <a:xfrm>
            <a:off x="1219200" y="947929"/>
            <a:ext cx="9525000" cy="3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80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A method of evaluating a person’s thinking process through a visual scene.</a:t>
            </a:r>
            <a:br>
              <a:rPr lang="en-I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Commonly used in: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➔"/>
            </a:pPr>
            <a:r>
              <a:rPr lang="en-IN" sz="2800">
                <a:solidFill>
                  <a:schemeClr val="dk1"/>
                </a:solidFill>
              </a:rPr>
              <a:t>SSB Interviews (Armed Forces)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➔"/>
            </a:pPr>
            <a:r>
              <a:rPr lang="en-IN" sz="2800">
                <a:solidFill>
                  <a:schemeClr val="dk1"/>
                </a:solidFill>
              </a:rPr>
              <a:t>Management Aptitude Tests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➔"/>
            </a:pPr>
            <a:r>
              <a:rPr lang="en-IN" sz="2800">
                <a:solidFill>
                  <a:schemeClr val="dk1"/>
                </a:solidFill>
              </a:rPr>
              <a:t>Psychological Assessments</a:t>
            </a:r>
            <a:br>
              <a:rPr lang="en-I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Combines </a:t>
            </a:r>
            <a:r>
              <a:rPr lang="en-IN" sz="2800" b="1">
                <a:solidFill>
                  <a:schemeClr val="dk1"/>
                </a:solidFill>
              </a:rPr>
              <a:t>observation</a:t>
            </a:r>
            <a:r>
              <a:rPr lang="en-IN" sz="2800">
                <a:solidFill>
                  <a:schemeClr val="dk1"/>
                </a:solidFill>
              </a:rPr>
              <a:t>, </a:t>
            </a:r>
            <a:r>
              <a:rPr lang="en-IN" sz="2800" b="1">
                <a:solidFill>
                  <a:schemeClr val="dk1"/>
                </a:solidFill>
              </a:rPr>
              <a:t>imagination</a:t>
            </a:r>
            <a:r>
              <a:rPr lang="en-IN" sz="2800">
                <a:solidFill>
                  <a:schemeClr val="dk1"/>
                </a:solidFill>
              </a:rPr>
              <a:t>, and </a:t>
            </a:r>
            <a:r>
              <a:rPr lang="en-IN" sz="2800" b="1">
                <a:solidFill>
                  <a:schemeClr val="dk1"/>
                </a:solidFill>
              </a:rPr>
              <a:t>narrative building</a:t>
            </a:r>
            <a:r>
              <a:rPr lang="en-IN" sz="2800">
                <a:solidFill>
                  <a:schemeClr val="dk1"/>
                </a:solidFill>
              </a:rPr>
              <a:t>.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133" name="Google Shape;133;p4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>
            <a:off x="1371600" y="179825"/>
            <a:ext cx="8579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IN" sz="4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Picture Perception?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4"/>
          <p:cNvCxnSpPr/>
          <p:nvPr/>
        </p:nvCxnSpPr>
        <p:spPr>
          <a:xfrm>
            <a:off x="1459992" y="1149096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>
            <a:spLocks noGrp="1"/>
          </p:cNvSpPr>
          <p:nvPr>
            <p:ph type="body" idx="1"/>
          </p:nvPr>
        </p:nvSpPr>
        <p:spPr>
          <a:xfrm>
            <a:off x="1333500" y="1293333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 </a:t>
            </a:r>
            <a:endParaRPr/>
          </a:p>
          <a:p>
            <a:pPr marL="228600" lvl="0" indent="-1143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228600" lvl="0" indent="-1143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pic>
        <p:nvPicPr>
          <p:cNvPr id="142" name="Google Shape;142;p5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1510920" y="161550"/>
            <a:ext cx="7328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IN" sz="4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Importance for Engineers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5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5" name="Google Shape;145;p5"/>
          <p:cNvSpPr txBox="1">
            <a:spLocks noGrp="1"/>
          </p:cNvSpPr>
          <p:nvPr>
            <p:ph type="body" idx="1"/>
          </p:nvPr>
        </p:nvSpPr>
        <p:spPr>
          <a:xfrm>
            <a:off x="1371600" y="1405129"/>
            <a:ext cx="9525000" cy="3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 b="1">
                <a:solidFill>
                  <a:schemeClr val="dk1"/>
                </a:solidFill>
              </a:rPr>
              <a:t>Improves critical thinking</a:t>
            </a:r>
            <a:r>
              <a:rPr lang="en-IN" sz="2800">
                <a:solidFill>
                  <a:schemeClr val="dk1"/>
                </a:solidFill>
              </a:rPr>
              <a:t>: vital for problem-solving.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Enhances </a:t>
            </a:r>
            <a:r>
              <a:rPr lang="en-IN" sz="2800" b="1">
                <a:solidFill>
                  <a:schemeClr val="dk1"/>
                </a:solidFill>
              </a:rPr>
              <a:t>communication clarity</a:t>
            </a:r>
            <a:r>
              <a:rPr lang="en-IN" sz="2800">
                <a:solidFill>
                  <a:schemeClr val="dk1"/>
                </a:solidFill>
              </a:rPr>
              <a:t>: especially when explaining concepts.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Boosts </a:t>
            </a:r>
            <a:r>
              <a:rPr lang="en-IN" sz="2800" b="1">
                <a:solidFill>
                  <a:schemeClr val="dk1"/>
                </a:solidFill>
              </a:rPr>
              <a:t>team collaboration</a:t>
            </a:r>
            <a:r>
              <a:rPr lang="en-IN" sz="2800">
                <a:solidFill>
                  <a:schemeClr val="dk1"/>
                </a:solidFill>
              </a:rPr>
              <a:t>: understanding others' viewpoints.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Useful in</a:t>
            </a:r>
            <a:r>
              <a:rPr lang="en-IN" sz="2800" b="1">
                <a:solidFill>
                  <a:schemeClr val="dk1"/>
                </a:solidFill>
              </a:rPr>
              <a:t> GDs, Interviews, and Tech Presentations.</a:t>
            </a:r>
            <a:endParaRPr sz="2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>
            <a:spLocks noGrp="1"/>
          </p:cNvSpPr>
          <p:nvPr>
            <p:ph type="body" idx="1"/>
          </p:nvPr>
        </p:nvSpPr>
        <p:spPr>
          <a:xfrm>
            <a:off x="1371600" y="1575817"/>
            <a:ext cx="9525000" cy="3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</a:rPr>
              <a:t>What to Observe:</a:t>
            </a:r>
            <a:endParaRPr sz="2800" b="1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Number of characters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Age, gender, mood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Environment or setting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Objects or actions in the image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Time of the day</a:t>
            </a: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2800" b="1">
                <a:solidFill>
                  <a:schemeClr val="dk1"/>
                </a:solidFill>
              </a:rPr>
              <a:t>Tip:</a:t>
            </a:r>
            <a:r>
              <a:rPr lang="en-IN" sz="2800">
                <a:solidFill>
                  <a:schemeClr val="dk1"/>
                </a:solidFill>
              </a:rPr>
              <a:t> Always observe from the </a:t>
            </a:r>
            <a:r>
              <a:rPr lang="en-IN" sz="2800" b="1">
                <a:solidFill>
                  <a:schemeClr val="dk1"/>
                </a:solidFill>
              </a:rPr>
              <a:t>whole to parts</a:t>
            </a:r>
            <a:r>
              <a:rPr lang="en-IN" sz="2800">
                <a:solidFill>
                  <a:schemeClr val="dk1"/>
                </a:solidFill>
              </a:rPr>
              <a:t> approach.</a:t>
            </a:r>
            <a:endParaRPr sz="2800" b="1">
              <a:solidFill>
                <a:schemeClr val="dk1"/>
              </a:solidFill>
            </a:endParaRPr>
          </a:p>
        </p:txBody>
      </p:sp>
      <p:pic>
        <p:nvPicPr>
          <p:cNvPr id="152" name="Google Shape;152;p6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977524" y="137150"/>
            <a:ext cx="9157200" cy="15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IN" sz="4800"/>
              <a:t>Observation Skills: Step 1</a:t>
            </a:r>
            <a:endParaRPr sz="4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6"/>
          <p:cNvCxnSpPr/>
          <p:nvPr/>
        </p:nvCxnSpPr>
        <p:spPr>
          <a:xfrm>
            <a:off x="1459992" y="1072896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5" name="Google Shape;15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0300" y="1358650"/>
            <a:ext cx="3270500" cy="32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>
            <a:spLocks noGrp="1"/>
          </p:cNvSpPr>
          <p:nvPr>
            <p:ph type="body" idx="1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 </a:t>
            </a:r>
            <a:endParaRPr/>
          </a:p>
          <a:p>
            <a:pPr marL="228600" lvl="0" indent="-1143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  <a:p>
            <a:pPr marL="228600" lvl="0" indent="-1143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pic>
        <p:nvPicPr>
          <p:cNvPr id="162" name="Google Shape;162;p8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Google Shape;163;p8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8"/>
          <p:cNvSpPr/>
          <p:nvPr/>
        </p:nvSpPr>
        <p:spPr>
          <a:xfrm>
            <a:off x="1249475" y="170700"/>
            <a:ext cx="8211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IN" sz="4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Interpretation Skills: Step 2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 txBox="1">
            <a:spLocks noGrp="1"/>
          </p:cNvSpPr>
          <p:nvPr>
            <p:ph type="body" idx="1"/>
          </p:nvPr>
        </p:nvSpPr>
        <p:spPr>
          <a:xfrm>
            <a:off x="1089425" y="1042425"/>
            <a:ext cx="10894500" cy="3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</a:rPr>
              <a:t>Questions to Ask Yourself:</a:t>
            </a:r>
            <a:endParaRPr sz="2800" b="1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What is happening in the picture?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What could have happened before and after this moment?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What role could each character be playing?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 b="1">
                <a:solidFill>
                  <a:schemeClr val="dk1"/>
                </a:solidFill>
              </a:rPr>
              <a:t>Exercise:</a:t>
            </a:r>
            <a:r>
              <a:rPr lang="en-IN" sz="2800">
                <a:solidFill>
                  <a:schemeClr val="dk1"/>
                </a:solidFill>
              </a:rPr>
              <a:t> Write a one-line interpretation.</a:t>
            </a:r>
            <a:endParaRPr sz="2800" b="1">
              <a:solidFill>
                <a:schemeClr val="dk1"/>
              </a:solidFill>
            </a:endParaRPr>
          </a:p>
        </p:txBody>
      </p:sp>
      <p:pic>
        <p:nvPicPr>
          <p:cNvPr id="166" name="Google Shape;166;p8"/>
          <p:cNvPicPr preferRelativeResize="0"/>
          <p:nvPr/>
        </p:nvPicPr>
        <p:blipFill rotWithShape="1">
          <a:blip r:embed="rId4">
            <a:alphaModFix/>
          </a:blip>
          <a:srcRect l="18146"/>
          <a:stretch/>
        </p:blipFill>
        <p:spPr>
          <a:xfrm>
            <a:off x="3788637" y="3692575"/>
            <a:ext cx="3706425" cy="313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 txBox="1">
            <a:spLocks noGrp="1"/>
          </p:cNvSpPr>
          <p:nvPr>
            <p:ph type="body" idx="1"/>
          </p:nvPr>
        </p:nvSpPr>
        <p:spPr>
          <a:xfrm>
            <a:off x="879350" y="13814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</a:rPr>
              <a:t>Create a story based on the picture using the </a:t>
            </a:r>
            <a:r>
              <a:rPr lang="en-IN" sz="2800" b="1">
                <a:solidFill>
                  <a:schemeClr val="dk1"/>
                </a:solidFill>
              </a:rPr>
              <a:t>BME Model:</a:t>
            </a:r>
            <a:endParaRPr sz="2800" b="1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 b="1">
                <a:solidFill>
                  <a:schemeClr val="dk1"/>
                </a:solidFill>
              </a:rPr>
              <a:t>Beginning</a:t>
            </a:r>
            <a:r>
              <a:rPr lang="en-IN" sz="2800">
                <a:solidFill>
                  <a:schemeClr val="dk1"/>
                </a:solidFill>
              </a:rPr>
              <a:t> – Set the scene (who, where, when)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 b="1">
                <a:solidFill>
                  <a:schemeClr val="dk1"/>
                </a:solidFill>
              </a:rPr>
              <a:t>Middle</a:t>
            </a:r>
            <a:r>
              <a:rPr lang="en-IN" sz="2800">
                <a:solidFill>
                  <a:schemeClr val="dk1"/>
                </a:solidFill>
              </a:rPr>
              <a:t> – Describe the situation, conflict, or event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 b="1">
                <a:solidFill>
                  <a:schemeClr val="dk1"/>
                </a:solidFill>
              </a:rPr>
              <a:t>End</a:t>
            </a:r>
            <a:r>
              <a:rPr lang="en-IN" sz="2800">
                <a:solidFill>
                  <a:schemeClr val="dk1"/>
                </a:solidFill>
              </a:rPr>
              <a:t> – Resolve the situation positively or thoughtfully</a:t>
            </a: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</a:rPr>
              <a:t>🧾 </a:t>
            </a:r>
            <a:r>
              <a:rPr lang="en-IN" sz="2800" b="1">
                <a:solidFill>
                  <a:schemeClr val="dk1"/>
                </a:solidFill>
              </a:rPr>
              <a:t>Tips for Writing:</a:t>
            </a:r>
            <a:endParaRPr sz="2800" b="1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Keep it </a:t>
            </a:r>
            <a:r>
              <a:rPr lang="en-IN" sz="2800" b="1">
                <a:solidFill>
                  <a:schemeClr val="dk1"/>
                </a:solidFill>
              </a:rPr>
              <a:t>realistic and logical</a:t>
            </a:r>
            <a:endParaRPr sz="2800" b="1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Use </a:t>
            </a:r>
            <a:r>
              <a:rPr lang="en-IN" sz="2800" b="1">
                <a:solidFill>
                  <a:schemeClr val="dk1"/>
                </a:solidFill>
              </a:rPr>
              <a:t>clear language</a:t>
            </a:r>
            <a:endParaRPr sz="2800" b="1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Highlight a </a:t>
            </a:r>
            <a:r>
              <a:rPr lang="en-IN" sz="2800" b="1">
                <a:solidFill>
                  <a:schemeClr val="dk1"/>
                </a:solidFill>
              </a:rPr>
              <a:t>positive outcome or lesson</a:t>
            </a:r>
            <a:endParaRPr sz="2800" b="1">
              <a:solidFill>
                <a:schemeClr val="dk1"/>
              </a:solidFill>
            </a:endParaRPr>
          </a:p>
        </p:txBody>
      </p:sp>
      <p:pic>
        <p:nvPicPr>
          <p:cNvPr id="173" name="Google Shape;173;p7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/>
          <p:nvPr/>
        </p:nvSpPr>
        <p:spPr>
          <a:xfrm>
            <a:off x="1510926" y="131075"/>
            <a:ext cx="8079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IN" sz="4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Story Building: Step 3</a:t>
            </a:r>
            <a:r>
              <a:rPr lang="en-IN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7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e4b884161_0_23"/>
          <p:cNvSpPr txBox="1">
            <a:spLocks noGrp="1"/>
          </p:cNvSpPr>
          <p:nvPr>
            <p:ph type="body" idx="1"/>
          </p:nvPr>
        </p:nvSpPr>
        <p:spPr>
          <a:xfrm>
            <a:off x="1412750" y="13814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</a:rPr>
              <a:t>Common in SSB/Assessment centers</a:t>
            </a:r>
            <a:endParaRPr sz="2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</a:rPr>
              <a:t>Process: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>
                <a:solidFill>
                  <a:schemeClr val="dk1"/>
                </a:solidFill>
              </a:rPr>
              <a:t>Picture shown for 30 seconds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>
                <a:solidFill>
                  <a:schemeClr val="dk1"/>
                </a:solidFill>
              </a:rPr>
              <a:t>1 minute to note observations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>
                <a:solidFill>
                  <a:schemeClr val="dk1"/>
                </a:solidFill>
              </a:rPr>
              <a:t>4 minutes to write the story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IN" sz="2800">
                <a:solidFill>
                  <a:schemeClr val="dk1"/>
                </a:solidFill>
              </a:rPr>
              <a:t>Group discussion with peers</a:t>
            </a: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</a:rPr>
              <a:t>Skills Tested:</a:t>
            </a:r>
            <a:endParaRPr sz="2800" b="1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Quick thinking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Logical reasoning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Communication under pressure</a:t>
            </a:r>
            <a:endParaRPr sz="2800">
              <a:solidFill>
                <a:schemeClr val="dk1"/>
              </a:solidFill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IN" sz="2800"/>
              <a:t> </a:t>
            </a:r>
            <a:endParaRPr sz="2800"/>
          </a:p>
          <a:p>
            <a:pPr marL="228600" lvl="0" indent="-1143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800"/>
          </a:p>
          <a:p>
            <a:pPr marL="228600" lvl="0" indent="-1143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800"/>
          </a:p>
        </p:txBody>
      </p:sp>
      <p:pic>
        <p:nvPicPr>
          <p:cNvPr id="182" name="Google Shape;182;g35e4b884161_0_23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5e4b884161_0_23"/>
          <p:cNvSpPr/>
          <p:nvPr/>
        </p:nvSpPr>
        <p:spPr>
          <a:xfrm>
            <a:off x="1510926" y="-173725"/>
            <a:ext cx="8211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IN" sz="4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PPDT Method (Picture Perception and Discussion Test)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g35e4b884161_0_23"/>
          <p:cNvCxnSpPr/>
          <p:nvPr/>
        </p:nvCxnSpPr>
        <p:spPr>
          <a:xfrm>
            <a:off x="1536192" y="1377696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g35e4b884161_0_47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5e4b884161_0_47"/>
          <p:cNvSpPr/>
          <p:nvPr/>
        </p:nvSpPr>
        <p:spPr>
          <a:xfrm>
            <a:off x="1031075" y="131075"/>
            <a:ext cx="9072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4000" b="1" dirty="0">
                <a:solidFill>
                  <a:schemeClr val="dk1"/>
                </a:solidFill>
              </a:rPr>
              <a:t>Tips to Improve Picture Perception</a:t>
            </a:r>
            <a:endParaRPr sz="4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g35e4b884161_0_47"/>
          <p:cNvCxnSpPr/>
          <p:nvPr/>
        </p:nvCxnSpPr>
        <p:spPr>
          <a:xfrm>
            <a:off x="1155192" y="1758696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3" name="Google Shape;193;g35e4b884161_0_47"/>
          <p:cNvSpPr txBox="1">
            <a:spLocks noGrp="1"/>
          </p:cNvSpPr>
          <p:nvPr>
            <p:ph type="body" idx="1"/>
          </p:nvPr>
        </p:nvSpPr>
        <p:spPr>
          <a:xfrm>
            <a:off x="1184150" y="19910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Practice daily with random images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Read stories, news, and case studies to improve narration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Learn to observe small details (shadows, posture, surroundings)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Stay calm, don’t overthink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Focus on </a:t>
            </a:r>
            <a:r>
              <a:rPr lang="en-IN" sz="2800" b="1">
                <a:solidFill>
                  <a:schemeClr val="dk1"/>
                </a:solidFill>
              </a:rPr>
              <a:t>clarity</a:t>
            </a:r>
            <a:r>
              <a:rPr lang="en-IN" sz="2800">
                <a:solidFill>
                  <a:schemeClr val="dk1"/>
                </a:solidFill>
              </a:rPr>
              <a:t> and </a:t>
            </a:r>
            <a:r>
              <a:rPr lang="en-IN" sz="2800" b="1">
                <a:solidFill>
                  <a:schemeClr val="dk1"/>
                </a:solidFill>
              </a:rPr>
              <a:t>structure</a:t>
            </a:r>
            <a:endParaRPr sz="2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g35e4b884161_0_31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5e4b884161_0_31"/>
          <p:cNvSpPr/>
          <p:nvPr/>
        </p:nvSpPr>
        <p:spPr>
          <a:xfrm>
            <a:off x="866800" y="131075"/>
            <a:ext cx="9525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4800" b="1" dirty="0">
                <a:solidFill>
                  <a:schemeClr val="dk1"/>
                </a:solidFill>
              </a:rPr>
              <a:t>   Common Mistakes</a:t>
            </a:r>
            <a:endParaRPr sz="4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g35e4b884161_0_31"/>
          <p:cNvCxnSpPr/>
          <p:nvPr/>
        </p:nvCxnSpPr>
        <p:spPr>
          <a:xfrm>
            <a:off x="1536192" y="996696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202" name="Google Shape;202;g35e4b884161_0_31"/>
          <p:cNvGraphicFramePr/>
          <p:nvPr/>
        </p:nvGraphicFramePr>
        <p:xfrm>
          <a:off x="1456150" y="1585900"/>
          <a:ext cx="9659525" cy="4013759"/>
        </p:xfrm>
        <a:graphic>
          <a:graphicData uri="http://schemas.openxmlformats.org/drawingml/2006/table">
            <a:tbl>
              <a:tblPr>
                <a:noFill/>
                <a:tableStyleId>{B7587E97-8D03-44D0-B33E-CD3A29D07DC2}</a:tableStyleId>
              </a:tblPr>
              <a:tblGrid>
                <a:gridCol w="565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44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 b="1"/>
                        <a:t>Mistake</a:t>
                      </a:r>
                      <a:endParaRPr sz="2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 b="1"/>
                        <a:t>Why it’s wrong</a:t>
                      </a:r>
                      <a:endParaRPr sz="28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 dirty="0"/>
                        <a:t>Writing unrealistic stories</a:t>
                      </a:r>
                      <a:endParaRPr sz="28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/>
                        <a:t>Weakens credibility</a:t>
                      </a:r>
                      <a:endParaRPr sz="2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/>
                        <a:t>Ignoring background details</a:t>
                      </a:r>
                      <a:endParaRPr sz="2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/>
                        <a:t>Misses key context</a:t>
                      </a:r>
                      <a:endParaRPr sz="2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/>
                        <a:t>Overcomplicating the story</a:t>
                      </a:r>
                      <a:endParaRPr sz="2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/>
                        <a:t>Loses focus</a:t>
                      </a:r>
                      <a:endParaRPr sz="2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5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/>
                        <a:t>Repeating phrases</a:t>
                      </a:r>
                      <a:endParaRPr sz="2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800" dirty="0"/>
                        <a:t>Reduces impact</a:t>
                      </a:r>
                      <a:endParaRPr sz="28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03" name="Google Shape;203;g35e4b884161_0_31"/>
          <p:cNvCxnSpPr/>
          <p:nvPr/>
        </p:nvCxnSpPr>
        <p:spPr>
          <a:xfrm>
            <a:off x="6429375" y="1589475"/>
            <a:ext cx="18000" cy="398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g35e4b884161_0_31"/>
          <p:cNvCxnSpPr/>
          <p:nvPr/>
        </p:nvCxnSpPr>
        <p:spPr>
          <a:xfrm>
            <a:off x="1357325" y="2214575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f7912973e_0_24"/>
          <p:cNvSpPr txBox="1">
            <a:spLocks noGrp="1"/>
          </p:cNvSpPr>
          <p:nvPr>
            <p:ph type="body" idx="1"/>
          </p:nvPr>
        </p:nvSpPr>
        <p:spPr>
          <a:xfrm>
            <a:off x="1184150" y="22196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Used in </a:t>
            </a:r>
            <a:r>
              <a:rPr lang="en-IN" sz="2800" b="1">
                <a:solidFill>
                  <a:schemeClr val="dk1"/>
                </a:solidFill>
              </a:rPr>
              <a:t>HR assessments</a:t>
            </a:r>
            <a:r>
              <a:rPr lang="en-IN" sz="2800">
                <a:solidFill>
                  <a:schemeClr val="dk1"/>
                </a:solidFill>
              </a:rPr>
              <a:t> for creativity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Helps in </a:t>
            </a:r>
            <a:r>
              <a:rPr lang="en-IN" sz="2800" b="1">
                <a:solidFill>
                  <a:schemeClr val="dk1"/>
                </a:solidFill>
              </a:rPr>
              <a:t>technical documentation</a:t>
            </a:r>
            <a:r>
              <a:rPr lang="en-IN" sz="2800">
                <a:solidFill>
                  <a:schemeClr val="dk1"/>
                </a:solidFill>
              </a:rPr>
              <a:t> through visual thinking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Encourages </a:t>
            </a:r>
            <a:r>
              <a:rPr lang="en-IN" sz="2800" b="1">
                <a:solidFill>
                  <a:schemeClr val="dk1"/>
                </a:solidFill>
              </a:rPr>
              <a:t>visual storytelling</a:t>
            </a:r>
            <a:r>
              <a:rPr lang="en-IN" sz="2800">
                <a:solidFill>
                  <a:schemeClr val="dk1"/>
                </a:solidFill>
              </a:rPr>
              <a:t> in presentations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Develops the </a:t>
            </a:r>
            <a:r>
              <a:rPr lang="en-IN" sz="2800" b="1">
                <a:solidFill>
                  <a:schemeClr val="dk1"/>
                </a:solidFill>
              </a:rPr>
              <a:t>engineer’s eye</a:t>
            </a:r>
            <a:r>
              <a:rPr lang="en-IN" sz="2800">
                <a:solidFill>
                  <a:schemeClr val="dk1"/>
                </a:solidFill>
              </a:rPr>
              <a:t> for detail and process</a:t>
            </a:r>
            <a:endParaRPr sz="2800" b="1">
              <a:solidFill>
                <a:schemeClr val="dk1"/>
              </a:solidFill>
            </a:endParaRPr>
          </a:p>
        </p:txBody>
      </p:sp>
      <p:pic>
        <p:nvPicPr>
          <p:cNvPr id="211" name="Google Shape;211;g35f7912973e_0_24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5f7912973e_0_24"/>
          <p:cNvSpPr/>
          <p:nvPr/>
        </p:nvSpPr>
        <p:spPr>
          <a:xfrm>
            <a:off x="1095400" y="131075"/>
            <a:ext cx="9525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4800" b="1">
                <a:solidFill>
                  <a:schemeClr val="dk1"/>
                </a:solidFill>
              </a:rPr>
              <a:t>Picture Perception in Professional Settings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g35f7912973e_0_24"/>
          <p:cNvCxnSpPr/>
          <p:nvPr/>
        </p:nvCxnSpPr>
        <p:spPr>
          <a:xfrm>
            <a:off x="1231392" y="1834896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5e50e6c62b_0_18"/>
          <p:cNvSpPr txBox="1">
            <a:spLocks noGrp="1"/>
          </p:cNvSpPr>
          <p:nvPr>
            <p:ph type="body" idx="1"/>
          </p:nvPr>
        </p:nvSpPr>
        <p:spPr>
          <a:xfrm>
            <a:off x="1184150" y="16100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Websites:</a:t>
            </a:r>
            <a:endParaRPr sz="2800"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 sz="2800" u="sng">
                <a:solidFill>
                  <a:schemeClr val="hlink"/>
                </a:solidFill>
                <a:hlinkClick r:id="rId3"/>
              </a:rPr>
              <a:t>unsplash.com</a:t>
            </a:r>
            <a:endParaRPr sz="2800" u="sng">
              <a:solidFill>
                <a:schemeClr val="hlink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 sz="2800" u="sng">
                <a:solidFill>
                  <a:schemeClr val="hlink"/>
                </a:solidFill>
                <a:hlinkClick r:id="rId4"/>
              </a:rPr>
              <a:t>pexels.com</a:t>
            </a:r>
            <a:endParaRPr sz="2800" u="sng">
              <a:solidFill>
                <a:schemeClr val="hlink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Apps:</a:t>
            </a:r>
            <a:endParaRPr sz="2800"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 sz="2800">
                <a:solidFill>
                  <a:schemeClr val="dk1"/>
                </a:solidFill>
              </a:rPr>
              <a:t>Picture-based story builders</a:t>
            </a:r>
            <a:endParaRPr sz="2800"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 sz="2800">
                <a:solidFill>
                  <a:schemeClr val="dk1"/>
                </a:solidFill>
              </a:rPr>
              <a:t>Visual puzzle games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Practice Books:</a:t>
            </a:r>
            <a:endParaRPr sz="2800"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 sz="2800">
                <a:solidFill>
                  <a:schemeClr val="dk1"/>
                </a:solidFill>
              </a:rPr>
              <a:t>SSB Picture Perception Practice by Arihant</a:t>
            </a:r>
            <a:endParaRPr sz="2800"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IN" sz="2800">
                <a:solidFill>
                  <a:schemeClr val="dk1"/>
                </a:solidFill>
              </a:rPr>
              <a:t>Communication skills modules from NPTEL</a:t>
            </a:r>
            <a:endParaRPr sz="2800" b="1">
              <a:solidFill>
                <a:schemeClr val="dk1"/>
              </a:solidFill>
            </a:endParaRPr>
          </a:p>
        </p:txBody>
      </p:sp>
      <p:pic>
        <p:nvPicPr>
          <p:cNvPr id="220" name="Google Shape;220;g35e50e6c62b_0_18" descr="cdc logo png black (1)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5e50e6c62b_0_18"/>
          <p:cNvSpPr/>
          <p:nvPr/>
        </p:nvSpPr>
        <p:spPr>
          <a:xfrm>
            <a:off x="1095400" y="131075"/>
            <a:ext cx="9525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4800" b="1">
                <a:solidFill>
                  <a:schemeClr val="dk1"/>
                </a:solidFill>
              </a:rPr>
              <a:t>Resources &amp; Practice Tools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g35e50e6c62b_0_18"/>
          <p:cNvCxnSpPr/>
          <p:nvPr/>
        </p:nvCxnSpPr>
        <p:spPr>
          <a:xfrm>
            <a:off x="1231392" y="1072896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f7912973e_0_32"/>
          <p:cNvSpPr txBox="1">
            <a:spLocks noGrp="1"/>
          </p:cNvSpPr>
          <p:nvPr>
            <p:ph type="body" idx="1"/>
          </p:nvPr>
        </p:nvSpPr>
        <p:spPr>
          <a:xfrm>
            <a:off x="1488950" y="16100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What challenges did you face while interpreting pictures?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Can picture perception help in technical problem-solving?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Share your short story from the practice activity.</a:t>
            </a:r>
            <a:endParaRPr sz="2800">
              <a:solidFill>
                <a:schemeClr val="dk1"/>
              </a:solidFill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IN" sz="2800"/>
              <a:t> </a:t>
            </a:r>
            <a:endParaRPr sz="2800"/>
          </a:p>
          <a:p>
            <a:pPr marL="228600" lvl="0" indent="-1143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800"/>
          </a:p>
          <a:p>
            <a:pPr marL="228600" lvl="0" indent="-1143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800"/>
          </a:p>
        </p:txBody>
      </p:sp>
      <p:pic>
        <p:nvPicPr>
          <p:cNvPr id="229" name="Google Shape;229;g35f7912973e_0_32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5f7912973e_0_32"/>
          <p:cNvSpPr/>
          <p:nvPr/>
        </p:nvSpPr>
        <p:spPr>
          <a:xfrm>
            <a:off x="1400200" y="283475"/>
            <a:ext cx="9525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4800" b="1">
                <a:solidFill>
                  <a:schemeClr val="dk1"/>
                </a:solidFill>
              </a:rPr>
              <a:t>Discussion and Q&amp;A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g35f7912973e_0_32"/>
          <p:cNvCxnSpPr/>
          <p:nvPr/>
        </p:nvCxnSpPr>
        <p:spPr>
          <a:xfrm>
            <a:off x="1536192" y="1149096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5f7912973e_0_40"/>
          <p:cNvSpPr txBox="1">
            <a:spLocks noGrp="1"/>
          </p:cNvSpPr>
          <p:nvPr>
            <p:ph type="body" idx="1"/>
          </p:nvPr>
        </p:nvSpPr>
        <p:spPr>
          <a:xfrm>
            <a:off x="1488950" y="43532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dk1"/>
                </a:solidFill>
              </a:rPr>
              <a:t>Task:</a:t>
            </a:r>
            <a:endParaRPr sz="2800" b="1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Observe the picture for 30 seconds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Write a 5-line story (1 min to write)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Share the storyline in brief with peers</a:t>
            </a:r>
            <a:endParaRPr sz="2800" b="1">
              <a:solidFill>
                <a:schemeClr val="dk1"/>
              </a:solidFill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IN" sz="2800"/>
              <a:t> </a:t>
            </a:r>
            <a:endParaRPr sz="2800"/>
          </a:p>
          <a:p>
            <a:pPr marL="228600" lvl="0" indent="-1143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800"/>
          </a:p>
          <a:p>
            <a:pPr marL="228600" lvl="0" indent="-1143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800"/>
          </a:p>
        </p:txBody>
      </p:sp>
      <p:pic>
        <p:nvPicPr>
          <p:cNvPr id="238" name="Google Shape;238;g35f7912973e_0_40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5f7912973e_0_40"/>
          <p:cNvSpPr/>
          <p:nvPr/>
        </p:nvSpPr>
        <p:spPr>
          <a:xfrm>
            <a:off x="1476400" y="131075"/>
            <a:ext cx="9525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 Time!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g35f7912973e_0_40"/>
          <p:cNvCxnSpPr/>
          <p:nvPr/>
        </p:nvCxnSpPr>
        <p:spPr>
          <a:xfrm>
            <a:off x="1536192" y="996696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41" name="Google Shape;241;g35f7912973e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2047" y="1219194"/>
            <a:ext cx="4942703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e4b884161_0_89"/>
          <p:cNvSpPr txBox="1">
            <a:spLocks noGrp="1"/>
          </p:cNvSpPr>
          <p:nvPr>
            <p:ph type="body" idx="1"/>
          </p:nvPr>
        </p:nvSpPr>
        <p:spPr>
          <a:xfrm>
            <a:off x="879350" y="1381408"/>
            <a:ext cx="9525000" cy="3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IN" sz="2800" b="1">
                <a:solidFill>
                  <a:schemeClr val="dk1"/>
                </a:solidFill>
              </a:rPr>
              <a:t>Picture Perception</a:t>
            </a:r>
            <a:r>
              <a:rPr lang="en-IN" sz="2800">
                <a:solidFill>
                  <a:schemeClr val="dk1"/>
                </a:solidFill>
              </a:rPr>
              <a:t> is a skill used to evaluate one’s thought process through images.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It improves </a:t>
            </a:r>
            <a:r>
              <a:rPr lang="en-IN" sz="2800" b="1">
                <a:solidFill>
                  <a:schemeClr val="dk1"/>
                </a:solidFill>
              </a:rPr>
              <a:t>observation</a:t>
            </a:r>
            <a:r>
              <a:rPr lang="en-IN" sz="2800">
                <a:solidFill>
                  <a:schemeClr val="dk1"/>
                </a:solidFill>
              </a:rPr>
              <a:t>, </a:t>
            </a:r>
            <a:r>
              <a:rPr lang="en-IN" sz="2800" b="1">
                <a:solidFill>
                  <a:schemeClr val="dk1"/>
                </a:solidFill>
              </a:rPr>
              <a:t>interpretation</a:t>
            </a:r>
            <a:r>
              <a:rPr lang="en-IN" sz="2800">
                <a:solidFill>
                  <a:schemeClr val="dk1"/>
                </a:solidFill>
              </a:rPr>
              <a:t>, and </a:t>
            </a:r>
            <a:r>
              <a:rPr lang="en-IN" sz="2800" b="1">
                <a:solidFill>
                  <a:schemeClr val="dk1"/>
                </a:solidFill>
              </a:rPr>
              <a:t>storytelling</a:t>
            </a:r>
            <a:r>
              <a:rPr lang="en-IN" sz="2800">
                <a:solidFill>
                  <a:schemeClr val="dk1"/>
                </a:solidFill>
              </a:rPr>
              <a:t> abilities.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Engineering students can use it to enhance communication, problem-solving, and interview readiness.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The </a:t>
            </a:r>
            <a:r>
              <a:rPr lang="en-IN" sz="2800" b="1">
                <a:solidFill>
                  <a:schemeClr val="dk1"/>
                </a:solidFill>
              </a:rPr>
              <a:t>BME Model</a:t>
            </a:r>
            <a:r>
              <a:rPr lang="en-IN" sz="2800">
                <a:solidFill>
                  <a:schemeClr val="dk1"/>
                </a:solidFill>
              </a:rPr>
              <a:t> (Beginning – Middle – End) helps in structuring a story.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IN" sz="2800">
                <a:solidFill>
                  <a:schemeClr val="dk1"/>
                </a:solidFill>
              </a:rPr>
              <a:t>Practicing with images builds confidence and creativity in expression.</a:t>
            </a:r>
            <a:endParaRPr sz="2800">
              <a:solidFill>
                <a:schemeClr val="dk1"/>
              </a:solidFill>
            </a:endParaRPr>
          </a:p>
          <a:p>
            <a:pPr marL="228600" lvl="0" indent="-1143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800"/>
          </a:p>
        </p:txBody>
      </p:sp>
      <p:pic>
        <p:nvPicPr>
          <p:cNvPr id="248" name="Google Shape;248;g35e4b884161_0_89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5e4b884161_0_89"/>
          <p:cNvSpPr/>
          <p:nvPr/>
        </p:nvSpPr>
        <p:spPr>
          <a:xfrm>
            <a:off x="1476400" y="207275"/>
            <a:ext cx="95250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sz="4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g35e4b884161_0_89"/>
          <p:cNvCxnSpPr/>
          <p:nvPr/>
        </p:nvCxnSpPr>
        <p:spPr>
          <a:xfrm>
            <a:off x="1536192" y="1072896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"/>
          <p:cNvSpPr txBox="1">
            <a:spLocks noGrp="1"/>
          </p:cNvSpPr>
          <p:nvPr>
            <p:ph type="body" idx="1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IN" sz="4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257" name="Google Shape;257;p9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" name="Google Shape;258;p9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9" name="Google Shape;259;p9"/>
          <p:cNvSpPr/>
          <p:nvPr/>
        </p:nvSpPr>
        <p:spPr>
          <a:xfrm>
            <a:off x="1636775" y="235958"/>
            <a:ext cx="730719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IN" sz="4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 Outcomes </a:t>
            </a:r>
            <a:endParaRPr sz="4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1322775" y="1243575"/>
            <a:ext cx="10335600" cy="46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 dirty="0">
                <a:solidFill>
                  <a:schemeClr val="dk1"/>
                </a:solidFill>
              </a:rPr>
              <a:t>Define what Picture Perception is and its relevance in communication.</a:t>
            </a:r>
            <a:endParaRPr sz="2800" dirty="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 dirty="0">
                <a:solidFill>
                  <a:schemeClr val="dk1"/>
                </a:solidFill>
              </a:rPr>
              <a:t>Sharpen observation and interpretation skills using visual prompts.</a:t>
            </a:r>
            <a:endParaRPr sz="2800" dirty="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 dirty="0">
                <a:solidFill>
                  <a:schemeClr val="dk1"/>
                </a:solidFill>
              </a:rPr>
              <a:t>Create logical and coherent stories based on visual stimuli.</a:t>
            </a:r>
            <a:endParaRPr sz="2800" dirty="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800" dirty="0">
                <a:solidFill>
                  <a:schemeClr val="dk1"/>
                </a:solidFill>
              </a:rPr>
              <a:t>Enhance critical thinking and narrative building techniques.</a:t>
            </a:r>
            <a:endParaRPr sz="2800" dirty="0">
              <a:solidFill>
                <a:schemeClr val="dk1"/>
              </a:solidFill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lang="en-IN" sz="2800" dirty="0">
                <a:solidFill>
                  <a:schemeClr val="dk1"/>
                </a:solidFill>
              </a:rPr>
              <a:t>Apply picture perception techniques in professional and interview scenarios.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body" idx="1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IN" sz="4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228600" lvl="0" indent="-228600" algn="ctr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4800"/>
              <a:buNone/>
            </a:pPr>
            <a:r>
              <a:rPr lang="en-IN" sz="4800">
                <a:latin typeface="Calibri"/>
                <a:ea typeface="Calibri"/>
                <a:cs typeface="Calibri"/>
                <a:sym typeface="Calibri"/>
              </a:rPr>
              <a:t>Thank You </a:t>
            </a:r>
            <a:endParaRPr/>
          </a:p>
        </p:txBody>
      </p:sp>
      <p:pic>
        <p:nvPicPr>
          <p:cNvPr id="267" name="Google Shape;267;p10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10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rgbClr val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</Words>
  <Application>Microsoft Macintosh PowerPoint</Application>
  <PresentationFormat>Widescreen</PresentationFormat>
  <Paragraphs>149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Abril Fatface</vt:lpstr>
      <vt:lpstr>ModOverlayVTI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ABC</dc:creator>
  <cp:lastModifiedBy>Pradeep Gupta</cp:lastModifiedBy>
  <cp:revision>1</cp:revision>
  <dcterms:created xsi:type="dcterms:W3CDTF">2024-01-11T09:03:24Z</dcterms:created>
  <dcterms:modified xsi:type="dcterms:W3CDTF">2025-07-12T06:07:46Z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2025-07-12T06:07:46Z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a7dc5174-6753-4062-8e89-a15bde840d0f</vt:lpwstr>
  </property>
  <property fmtid="{D5CDD505-2E9C-101B-9397-08002B2CF9AE}" pid="8" name="MSIP_Label_defa4170-0d19-0005-0004-bc88714345d2_ActionId">
    <vt:lpwstr>1be1976f-ac40-4d26-b6af-a507a76b422d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50, 3, 0, 1</vt:lpwstr>
  </property>
</Properties>
</file>