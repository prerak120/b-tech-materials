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4"/>
  </p:notesMasterIdLst>
  <p:handoutMasterIdLst>
    <p:handoutMasterId r:id="rId25"/>
  </p:handoutMasterIdLst>
  <p:sldIdLst>
    <p:sldId id="437" r:id="rId5"/>
    <p:sldId id="461" r:id="rId6"/>
    <p:sldId id="453" r:id="rId7"/>
    <p:sldId id="466" r:id="rId8"/>
    <p:sldId id="488" r:id="rId9"/>
    <p:sldId id="489" r:id="rId10"/>
    <p:sldId id="496" r:id="rId11"/>
    <p:sldId id="490" r:id="rId12"/>
    <p:sldId id="491" r:id="rId13"/>
    <p:sldId id="492" r:id="rId14"/>
    <p:sldId id="494" r:id="rId15"/>
    <p:sldId id="497" r:id="rId16"/>
    <p:sldId id="495" r:id="rId17"/>
    <p:sldId id="484" r:id="rId18"/>
    <p:sldId id="485" r:id="rId19"/>
    <p:sldId id="493" r:id="rId20"/>
    <p:sldId id="487" r:id="rId21"/>
    <p:sldId id="458" r:id="rId22"/>
    <p:sldId id="46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8187"/>
    <a:srgbClr val="0C40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6" autoAdjust="0"/>
    <p:restoredTop sz="95394" autoAdjust="0"/>
  </p:normalViewPr>
  <p:slideViewPr>
    <p:cSldViewPr snapToGrid="0">
      <p:cViewPr varScale="1">
        <p:scale>
          <a:sx n="62" d="100"/>
          <a:sy n="62" d="100"/>
        </p:scale>
        <p:origin x="864" y="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714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71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E4D2272-D660-A337-AEF3-BE066BD5453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FE5A70-71C2-F335-270C-B94537340C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C5A369-CA0E-4FC6-90EE-5FA969A08EF8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1E1B03-0F86-16E7-11BE-81F9F4CD66B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4524B8-3914-99B2-2620-0F2A88D335A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210F9-8331-407C-A034-F95DCB303EB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0058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4AB06A-EEDC-421C-B5A0-5E9E5241A8E5}" type="datetimeFigureOut">
              <a:rPr lang="en-US" smtClean="0"/>
              <a:pPr/>
              <a:t>5/30/2025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F9438-3EEF-4192-9815-F6F44770AE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2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463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1BFEA-836C-4827-9E4C-60E9CA32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490575-D03D-F529-CC72-F531457857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8554A-1F94-95C6-4ABF-9F44C1BBD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F41D5-3533-799D-6161-FCF4A07A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00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BE86-1DC3-710E-9364-618ED1A96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0927E1-C094-CE62-A9C3-31D53665E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B0254-3AF6-3779-B813-CBE9F2D55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FCE5F-38D4-C6A7-CA0A-0878AABE3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1702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62E55-7BE3-81AE-06C5-248466011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680C3-56AD-E62F-4EAF-9348CB5590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ED26E-C2A5-5B0D-3563-5280379EE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1D1E-5578-5B06-CD66-07B39BD5F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9388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6A10B-B33E-4198-8DC6-2D6CBA2C1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59C88-530E-DC29-D33D-3F96AECD9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A04CE1-A568-C250-BFA3-28E400305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68358-5E79-0115-B1B5-6CEDF3189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9833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41C65-F1DD-8770-D138-A0D886C0B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65C23-7652-5942-0D06-FC5772D51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BC22BB-E7D8-8364-127E-2E7BEE50A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991E6-2BBD-BAD2-62C0-C0C3F4DF4F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076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B74E-3800-9E75-1876-02357DF89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2F147-29CD-D5D1-2002-79BD3D20F5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23BC2-F829-DD64-9AA6-D7F0EF078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B395E-F82D-F249-EA2A-6D195FD927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1461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68C35-89B7-958C-B1CA-F8BA3EE90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8B4B3-8107-ECF2-EA19-AA4D19918F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964E10-48BB-2EF3-4655-D2ED7C542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A27791-0C6F-732A-3424-D3BB4062E4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3907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8DFEE-3611-2E3F-26E2-E1870B303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D8020-1D27-0B6D-9F58-C8D4DD151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20612B-6817-FAE7-EBF5-20BE52A0C4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F9EDFB-AE13-221C-1B60-287AF42E3A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60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6A3E9-7DD7-51C0-97D2-B86E1926A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CFA764-5DC5-A429-29E7-4EC60CF76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81AF54-292D-C6BD-C6B3-4733707F28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87D9C-57ED-363C-8E3C-F36303D17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2542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F43ED-8478-714E-6326-254B49D64D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B207B0-2541-753B-1032-8E8C51BD11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EC733E-DBA2-A508-0C9F-24B67879AF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29BF58-E76C-C5BD-37A0-8DF076C401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7630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876AA-661C-D161-00BA-B48BB8B67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8C5057-DDBC-B060-4162-B4C9F0199D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72C52-B8CA-20C9-AF62-B54F9306E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D23C7-318A-F562-A646-F16E9F38C6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81118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6DF47-5C67-3288-3731-510296129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AB57A-30D7-B3D8-FF94-2566C1C29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DAB2B1-21EC-A605-247E-42039CFFB8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0236C-CA9C-EC32-FCE3-87F83FBF66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0635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83756-AE22-0E45-3814-678009442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EC8BD-FF21-4EF1-12C5-53E051C56C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166B83-E5AC-33F7-3E23-B59866BD2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B5A58-69ED-32A4-A255-8EE7FB3704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615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E3658-D35B-6636-B052-5536A5DF4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948F1D-398C-A553-F2C9-CA69B6A670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FBEBD-60B8-B5B4-8E34-86109D67C6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C296C-079F-8C64-26E3-A5D668AED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126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F9438-3EEF-4192-9815-F6F44770AEF7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3770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D9960-406F-4187-A0E6-BD19C684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9326" y="919716"/>
            <a:ext cx="8504275" cy="3551275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27E7FE-647D-4B2F-BA13-AB3ED4C5CF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9326" y="4795284"/>
            <a:ext cx="8504275" cy="1084522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16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EF785-E0A7-4496-A5BA-49B0156F26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64706" y="6433202"/>
            <a:ext cx="2426446" cy="36784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2C627-38A1-4A14-8822-D8D33751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BE346-5F34-48CD-8928-DA8567AED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3203"/>
            <a:ext cx="702781" cy="367842"/>
          </a:xfrm>
        </p:spPr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11306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9839C-7D7A-49F1-8BFE-85C6C7D78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256" y="590668"/>
            <a:ext cx="9914859" cy="132900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748DC-EBB9-44C6-8566-38F87FF7F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919673"/>
            <a:ext cx="9914860" cy="412331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342198-F50F-4C8A-9BD9-4CC3950F8FA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23285" y="6434524"/>
            <a:ext cx="2067867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2F5AB-D8C6-4AE1-8FAE-CD0499CB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3736" y="6437376"/>
            <a:ext cx="3775914" cy="365125"/>
          </a:xfrm>
        </p:spPr>
        <p:txBody>
          <a:bodyPr/>
          <a:lstStyle>
            <a:lvl1pPr algn="l">
              <a:defRPr>
                <a:solidFill>
                  <a:schemeClr val="accent2"/>
                </a:solidFill>
              </a:defRPr>
            </a:lvl1pPr>
          </a:lstStyle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C58D8-B582-4DB3-A94D-056240199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91152" y="6434524"/>
            <a:ext cx="6932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27875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8A94B-011C-4B13-8C12-E91BF7A40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320800"/>
            <a:ext cx="9144000" cy="309581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16D5F3-887C-4A8F-842A-0294A9FB08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3999" y="4589463"/>
            <a:ext cx="914400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4588B-131A-42F3-B76C-62BD65E48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1AB28-20BD-4CD8-9840-985C3EDBA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3C85C-3801-46F0-A100-616F5F2F8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660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5CB06-0454-4BF1-8011-F8B1A9595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20A70-D33B-4461-B74C-3F59ADB161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08813" y="2163725"/>
            <a:ext cx="4610986" cy="4013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81BDF9-836E-431C-8EFA-417A9BEE9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260" y="2163725"/>
            <a:ext cx="4853763" cy="40132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BD9F59-B591-4E2F-899E-3CA78CE82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CFD12-B3EC-432C-B264-8AB571CAA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3CBBA-71B3-4857-80E7-525E89FD9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02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1886-4F39-4E3E-948D-DBC73F267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C7B2A-B6BE-46FD-9278-A5246BF7E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E85295-E4B5-4D75-954F-B07A2F4CA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35623"/>
            <a:ext cx="5157787" cy="3554039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87ABF0-C78D-4589-8FA5-0D6238B4B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6A4064-2E0A-4FC3-837B-14EC0EF3A6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35623"/>
            <a:ext cx="5183188" cy="355404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3C169-8D29-4CC4-9581-748178F3C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4EC709-AAD9-475C-AC6A-943A8E872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0C0E3E-587D-46EB-AAF5-011C137B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47700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3E062-B7F5-4D30-B416-1BBB4A7D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FF7A-EBD3-4FEB-8451-5D7355069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F54A2D-2C4B-4E1D-AC16-E3B1F1DD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11F373-DB96-4AEA-8E3E-7EDEA21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62912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2485D4-41D3-4182-8DFE-2E0713EC0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753C5C-8415-4BF0-810D-A4C22F695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5EBFEA-4321-48C4-9CA1-43517540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954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09F8C-8071-4BE5-AD6F-C98F481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135B3-14BA-4A88-B6B3-88B77B1C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7C3A4D-5B69-44B4-B17F-770E83F008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1C41D-2A59-4512-8034-6DB7057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5C494-778C-4EE6-9402-242E1CDD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5677B9-C338-4033-9AFE-B8B81C5D8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73706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7DE-4C2E-476F-A419-57470FB66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FD1A0-93AE-469A-ADDF-2453B64CAA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19C9C-EF97-4910-9419-6D720260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A87172-A64E-4C38-82ED-2A7050B0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0C3E24-28E2-4512-BEA0-DAEC5E846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F04F0D-DA84-434D-B136-BEE9FD80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33428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05F0-2B44-47BC-86B3-58E2C708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A5B5DA-7628-4AC1-8EAE-5010C2A981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4E7C3-7830-49F3-9F45-4B2F2B4CA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5E328-AD12-449C-BE6E-76DF005E8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0F374F-390D-49D8-A7C8-5BEFA353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43088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50F530-2925-4F98-89EC-95C2EC4769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79366-3281-483D-8731-0D01B2B24A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5ED8B2-BE7F-4417-8A8A-A95C8BB70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A0D96-671F-4A85-89C6-946624CB1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BA434-2E32-4719-B45C-0490D685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72804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b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5BA2562-20F9-9DC8-81EB-6ED26B24D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5983099"/>
            <a:ext cx="12192000" cy="8739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 25">
            <a:extLst>
              <a:ext uri="{FF2B5EF4-FFF2-40B4-BE49-F238E27FC236}">
                <a16:creationId xmlns:a16="http://schemas.microsoft.com/office/drawing/2014/main" id="{369E878B-C75C-98DC-B694-2C40507C49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75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27">
            <a:extLst>
              <a:ext uri="{FF2B5EF4-FFF2-40B4-BE49-F238E27FC236}">
                <a16:creationId xmlns:a16="http://schemas.microsoft.com/office/drawing/2014/main" id="{DC03A063-67E0-718E-206C-6C807C200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0" y="-5"/>
            <a:ext cx="2286000" cy="2285973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30">
            <a:extLst>
              <a:ext uri="{FF2B5EF4-FFF2-40B4-BE49-F238E27FC236}">
                <a16:creationId xmlns:a16="http://schemas.microsoft.com/office/drawing/2014/main" id="{6D86FEEF-2721-A616-B636-7C6F8B1B5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-433923" y="554625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4AC20A76-77DC-62F7-C0E5-66C03853B3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9" y="1478396"/>
            <a:ext cx="3710355" cy="3445297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CF99A149-DEF4-9E0F-D0DE-E859DB6CA53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360465" y="1477963"/>
            <a:ext cx="5536135" cy="3446462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600"/>
            </a:lvl2pPr>
            <a:lvl3pPr marL="914400" indent="0">
              <a:buNone/>
              <a:defRPr sz="1400"/>
            </a:lvl3pPr>
            <a:lvl4pPr marL="1371600" indent="0">
              <a:buNone/>
              <a:defRPr sz="1200"/>
            </a:lvl4pPr>
            <a:lvl5pPr marL="1828800" indent="0">
              <a:buNone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86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10C35C-5361-BD30-EB79-01BD72158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-2992038" y="2992045"/>
            <a:ext cx="6858000" cy="87392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 26">
            <a:extLst>
              <a:ext uri="{FF2B5EF4-FFF2-40B4-BE49-F238E27FC236}">
                <a16:creationId xmlns:a16="http://schemas.microsoft.com/office/drawing/2014/main" id="{948A7171-32A3-1CAC-DDFD-7C44DDAF06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 flipH="1" flipV="1">
            <a:off x="1" y="0"/>
            <a:ext cx="1745673" cy="877824"/>
          </a:xfrm>
          <a:custGeom>
            <a:avLst/>
            <a:gdLst>
              <a:gd name="connsiteX0" fmla="*/ 0 w 4572000"/>
              <a:gd name="connsiteY0" fmla="*/ 2285974 h 2285974"/>
              <a:gd name="connsiteX1" fmla="*/ 113956 w 4572000"/>
              <a:gd name="connsiteY1" fmla="*/ 2283183 h 2285974"/>
              <a:gd name="connsiteX2" fmla="*/ 2283027 w 4572000"/>
              <a:gd name="connsiteY2" fmla="*/ 117584 h 2285974"/>
              <a:gd name="connsiteX3" fmla="*/ 2286000 w 4572000"/>
              <a:gd name="connsiteY3" fmla="*/ 0 h 2285974"/>
              <a:gd name="connsiteX4" fmla="*/ 2288973 w 4572000"/>
              <a:gd name="connsiteY4" fmla="*/ 117584 h 2285974"/>
              <a:gd name="connsiteX5" fmla="*/ 4458044 w 4572000"/>
              <a:gd name="connsiteY5" fmla="*/ 2283183 h 2285974"/>
              <a:gd name="connsiteX6" fmla="*/ 4572000 w 4572000"/>
              <a:gd name="connsiteY6" fmla="*/ 2285974 h 2285974"/>
              <a:gd name="connsiteX7" fmla="*/ 2286000 w 4572000"/>
              <a:gd name="connsiteY7" fmla="*/ 2285974 h 2285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2000" h="2285974">
                <a:moveTo>
                  <a:pt x="0" y="2285974"/>
                </a:moveTo>
                <a:lnTo>
                  <a:pt x="113956" y="2283183"/>
                </a:lnTo>
                <a:cubicBezTo>
                  <a:pt x="1284562" y="2225701"/>
                  <a:pt x="2223714" y="1287708"/>
                  <a:pt x="2283027" y="117584"/>
                </a:cubicBezTo>
                <a:lnTo>
                  <a:pt x="2286000" y="0"/>
                </a:lnTo>
                <a:lnTo>
                  <a:pt x="2288973" y="117584"/>
                </a:lnTo>
                <a:cubicBezTo>
                  <a:pt x="2348287" y="1287708"/>
                  <a:pt x="3287438" y="2225701"/>
                  <a:pt x="4458044" y="2283183"/>
                </a:cubicBezTo>
                <a:lnTo>
                  <a:pt x="4572000" y="2285974"/>
                </a:lnTo>
                <a:lnTo>
                  <a:pt x="2286000" y="2285974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47">
            <a:extLst>
              <a:ext uri="{FF2B5EF4-FFF2-40B4-BE49-F238E27FC236}">
                <a16:creationId xmlns:a16="http://schemas.microsoft.com/office/drawing/2014/main" id="{06FD5EAC-FAC4-CDB4-6AB8-809E940F07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91644" y="3657688"/>
            <a:ext cx="3200357" cy="3200320"/>
          </a:xfrm>
          <a:custGeom>
            <a:avLst/>
            <a:gdLst>
              <a:gd name="connsiteX0" fmla="*/ 3200357 w 3200357"/>
              <a:gd name="connsiteY0" fmla="*/ 0 h 3200320"/>
              <a:gd name="connsiteX1" fmla="*/ 3200357 w 3200357"/>
              <a:gd name="connsiteY1" fmla="*/ 3200320 h 3200320"/>
              <a:gd name="connsiteX2" fmla="*/ 0 w 3200357"/>
              <a:gd name="connsiteY2" fmla="*/ 3200320 h 3200320"/>
              <a:gd name="connsiteX3" fmla="*/ 159536 w 3200357"/>
              <a:gd name="connsiteY3" fmla="*/ 3196412 h 3200320"/>
              <a:gd name="connsiteX4" fmla="*/ 3196195 w 3200357"/>
              <a:gd name="connsiteY4" fmla="*/ 164613 h 3200320"/>
              <a:gd name="connsiteX5" fmla="*/ 3200357 w 3200357"/>
              <a:gd name="connsiteY5" fmla="*/ 0 h 3200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357" h="3200320">
                <a:moveTo>
                  <a:pt x="3200357" y="0"/>
                </a:moveTo>
                <a:lnTo>
                  <a:pt x="3200357" y="3200320"/>
                </a:lnTo>
                <a:lnTo>
                  <a:pt x="0" y="3200320"/>
                </a:lnTo>
                <a:lnTo>
                  <a:pt x="159536" y="3196412"/>
                </a:lnTo>
                <a:cubicBezTo>
                  <a:pt x="1798363" y="3115939"/>
                  <a:pt x="3113157" y="1802765"/>
                  <a:pt x="3196195" y="164613"/>
                </a:cubicBezTo>
                <a:lnTo>
                  <a:pt x="3200357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6DA13352-25BC-FD28-A34C-DD204D5BF1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1748" y="246183"/>
            <a:ext cx="9525000" cy="1919521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4108AC-4ED2-99E6-0212-0AC0802C553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371600" y="2274033"/>
            <a:ext cx="9525000" cy="3317875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800"/>
            </a:lvl1pPr>
            <a:lvl2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600"/>
            </a:lvl2pPr>
            <a:lvl3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400"/>
            </a:lvl3pPr>
            <a:lvl4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4pPr>
            <a:lvl5pPr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C663CA19-070F-D373-ED8C-B6F895D11B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96600" y="5983104"/>
            <a:ext cx="1295400" cy="87489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596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7A08E557-10DB-421A-876E-1AE58F8E07C4}"/>
              </a:ext>
            </a:extLst>
          </p:cNvPr>
          <p:cNvSpPr/>
          <p:nvPr/>
        </p:nvSpPr>
        <p:spPr>
          <a:xfrm>
            <a:off x="8844703" y="3732560"/>
            <a:ext cx="3352193" cy="3125440"/>
          </a:xfrm>
          <a:custGeom>
            <a:avLst/>
            <a:gdLst>
              <a:gd name="connsiteX0" fmla="*/ 0 w 3352193"/>
              <a:gd name="connsiteY0" fmla="*/ 3125374 h 3125440"/>
              <a:gd name="connsiteX1" fmla="*/ 2579 w 3352193"/>
              <a:gd name="connsiteY1" fmla="*/ 3125440 h 3125440"/>
              <a:gd name="connsiteX2" fmla="*/ 0 w 3352193"/>
              <a:gd name="connsiteY2" fmla="*/ 3125440 h 3125440"/>
              <a:gd name="connsiteX3" fmla="*/ 3352193 w 3352193"/>
              <a:gd name="connsiteY3" fmla="*/ 0 h 3125440"/>
              <a:gd name="connsiteX4" fmla="*/ 3352193 w 3352193"/>
              <a:gd name="connsiteY4" fmla="*/ 3125440 h 3125440"/>
              <a:gd name="connsiteX5" fmla="*/ 2579 w 3352193"/>
              <a:gd name="connsiteY5" fmla="*/ 3125440 h 3125440"/>
              <a:gd name="connsiteX6" fmla="*/ 3348685 w 3352193"/>
              <a:gd name="connsiteY6" fmla="*/ 47035 h 312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352193" h="3125440">
                <a:moveTo>
                  <a:pt x="0" y="3125374"/>
                </a:moveTo>
                <a:lnTo>
                  <a:pt x="2579" y="3125440"/>
                </a:lnTo>
                <a:lnTo>
                  <a:pt x="0" y="3125440"/>
                </a:lnTo>
                <a:close/>
                <a:moveTo>
                  <a:pt x="3352193" y="0"/>
                </a:moveTo>
                <a:lnTo>
                  <a:pt x="3352193" y="3125440"/>
                </a:lnTo>
                <a:lnTo>
                  <a:pt x="2579" y="3125440"/>
                </a:lnTo>
                <a:cubicBezTo>
                  <a:pt x="1744073" y="3125440"/>
                  <a:pt x="3176441" y="1776129"/>
                  <a:pt x="3348685" y="47035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EBCA0-8609-4F35-8CA7-7AD35FDAC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5613" y="6434560"/>
            <a:ext cx="34280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spc="50" baseline="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sz="10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DA9639-38D2-4CD4-A861-F6B4C6CB9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8775" y="590372"/>
            <a:ext cx="10202248" cy="1325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F00B1-16C1-47B3-A7A0-B71468312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8825" y="1916262"/>
            <a:ext cx="10192198" cy="4133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F9501-5B6B-4DAF-B59D-3C129ED805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17000" y="6433202"/>
            <a:ext cx="2374150" cy="3678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spc="50" baseline="0">
                <a:solidFill>
                  <a:srgbClr val="FFFFFF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85DBD-B7AE-41D8-8CF1-B21CD58E1B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91150" y="6433203"/>
            <a:ext cx="693263" cy="3678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FFFFF"/>
                </a:solidFill>
                <a:latin typeface="+mj-lt"/>
              </a:defRPr>
            </a:lvl1pPr>
          </a:lstStyle>
          <a:p>
            <a:fld id="{08AB70BE-1769-45B8-85A6-0C837432C7E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29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5" r:id="rId12"/>
    <p:sldLayoutId id="214748372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736">
          <p15:clr>
            <a:srgbClr val="F26B43"/>
          </p15:clr>
        </p15:guide>
        <p15:guide id="4" orient="horz" pos="3312">
          <p15:clr>
            <a:srgbClr val="F26B43"/>
          </p15:clr>
        </p15:guide>
        <p15:guide id="5" orient="horz" pos="432">
          <p15:clr>
            <a:srgbClr val="F26B43"/>
          </p15:clr>
        </p15:guide>
        <p15:guide id="7" pos="4416">
          <p15:clr>
            <a:srgbClr val="F26B43"/>
          </p15:clr>
        </p15:guide>
        <p15:guide id="8" pos="5568">
          <p15:clr>
            <a:srgbClr val="F26B43"/>
          </p15:clr>
        </p15:guide>
        <p15:guide id="9" pos="7296">
          <p15:clr>
            <a:srgbClr val="F26B43"/>
          </p15:clr>
        </p15:guide>
        <p15:guide id="10" pos="2688">
          <p15:clr>
            <a:srgbClr val="F26B43"/>
          </p15:clr>
        </p15:guide>
        <p15:guide id="11" pos="1536">
          <p15:clr>
            <a:srgbClr val="F26B43"/>
          </p15:clr>
        </p15:guide>
        <p15:guide id="12" pos="384">
          <p15:clr>
            <a:srgbClr val="F26B43"/>
          </p15:clr>
        </p15:guide>
        <p15:guide id="13" pos="2112">
          <p15:clr>
            <a:srgbClr val="F26B43"/>
          </p15:clr>
        </p15:guide>
        <p15:guide id="14" pos="4992">
          <p15:clr>
            <a:srgbClr val="F26B43"/>
          </p15:clr>
        </p15:guide>
        <p15:guide id="15" pos="6720">
          <p15:clr>
            <a:srgbClr val="F26B43"/>
          </p15:clr>
        </p15:guide>
        <p15:guide id="16" pos="960">
          <p15:clr>
            <a:srgbClr val="F26B43"/>
          </p15:clr>
        </p15:guide>
        <p15:guide id="17" pos="3264">
          <p15:clr>
            <a:srgbClr val="F26B43"/>
          </p15:clr>
        </p15:guide>
        <p15:guide id="18" orient="horz" pos="1008">
          <p15:clr>
            <a:srgbClr val="F26B43"/>
          </p15:clr>
        </p15:guide>
        <p15:guide id="19" orient="horz" pos="3888">
          <p15:clr>
            <a:srgbClr val="F26B43"/>
          </p15:clr>
        </p15:guide>
        <p15:guide id="20" pos="6144">
          <p15:clr>
            <a:srgbClr val="F26B43"/>
          </p15:clr>
        </p15:guide>
        <p15:guide id="21" orient="horz" pos="1584">
          <p15:clr>
            <a:srgbClr val="F26B43"/>
          </p15:clr>
        </p15:guide>
        <p15:guide id="22" pos="576">
          <p15:clr>
            <a:srgbClr val="F26B43"/>
          </p15:clr>
        </p15:guide>
        <p15:guide id="23" pos="7104">
          <p15:clr>
            <a:srgbClr val="F26B43"/>
          </p15:clr>
        </p15:guide>
        <p15:guide id="24" pos="768">
          <p15:clr>
            <a:srgbClr val="F26B43"/>
          </p15:clr>
        </p15:guide>
        <p15:guide id="25" pos="6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3.xml"/><Relationship Id="rId1" Type="http://schemas.openxmlformats.org/officeDocument/2006/relationships/video" Target="https://www.youtube.com/embed/fSHQ-oi3pDc?feature=oembed" TargetMode="Externa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456" y="85343"/>
            <a:ext cx="2761488" cy="134004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914400" y="1444752"/>
            <a:ext cx="9421402" cy="35862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Technical Writing </a:t>
            </a:r>
          </a:p>
          <a:p>
            <a:pPr algn="ctr"/>
            <a:r>
              <a:rPr lang="en-US" sz="5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etiquette &amp; Email writing </a:t>
            </a:r>
          </a:p>
          <a:p>
            <a:pPr algn="ctr"/>
            <a:r>
              <a:rPr lang="en-IN" sz="32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Semester 3 – Professional Communication Skills  (</a:t>
            </a:r>
            <a:r>
              <a:rPr lang="en-IN" sz="32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303193203</a:t>
            </a:r>
            <a:r>
              <a:rPr lang="en-IN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algn="ctr">
              <a:lnSpc>
                <a:spcPct val="200000"/>
              </a:lnSpc>
            </a:pPr>
            <a:endParaRPr lang="en-IN" sz="3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17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>
              <a:buNone/>
            </a:pP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192024"/>
            <a:ext cx="561224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Objectives</a:t>
            </a:r>
            <a:endParaRPr lang="en-US" sz="4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328928" y="1302668"/>
            <a:ext cx="952500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 the structure and components of a professional email.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key etiquettes for effective email communication.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Practice writing different types of formal and informal emails.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clarity, tone, and precision in email writing.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Enhance digital professionalism through email.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email writing skills in academic and workplace scenarios.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written communication in the digital era: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Clear written communication builds credibility and ensures effective information sharing across platforms.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Why email writing skills are essential for engineers?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Engineers frequently use emails to convey technical information, coordinate tasks, and maintain professionalism.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Role of proper etiquette in professional communication: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Proper etiquette fosters respect, minimizes misunderstandings, and reflects your professional identity.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0934" y="256032"/>
            <a:ext cx="35274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Introduction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FE985-B3CD-D556-018E-3E4FAF80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938A77-D7DF-DA21-22C3-610C620ACE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888653C-4A78-D1B2-DBE9-160349AE7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8182D31-A76D-C57F-52C6-2D907B26E328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 Email Communication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F87762D-B0A1-05AF-F553-452DDA93B71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E628128-1D54-C325-6E6C-AFCF221E606A}"/>
              </a:ext>
            </a:extLst>
          </p:cNvPr>
          <p:cNvSpPr txBox="1"/>
          <p:nvPr/>
        </p:nvSpPr>
        <p:spPr>
          <a:xfrm>
            <a:off x="1536191" y="1251618"/>
            <a:ext cx="9744834" cy="5401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Brief history and evolution: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began in the 1970s and has evolved into a primary mode of formal digital communication.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Importance of emails in academic and professional contexts: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Essential for submitting assignments, communicating with faculty, job applications, and workplace collaboration.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Email vs. other communication channels:</a:t>
            </a: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formal and traceable than chats or calls; suitable for detailed, documented interactions.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32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FDB0-36D8-80E2-5D07-3515D6424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C74925-9527-383B-7C93-5CCEE5E9D3C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92292303-47C5-BE3E-4900-3CE4B5111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D149226-7558-FA79-EA07-7C67E476F2D6}"/>
              </a:ext>
            </a:extLst>
          </p:cNvPr>
          <p:cNvSpPr/>
          <p:nvPr/>
        </p:nvSpPr>
        <p:spPr>
          <a:xfrm>
            <a:off x="1417834" y="315211"/>
            <a:ext cx="105104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Structure of a Professional Email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DFACD2-903A-3A22-1CD7-A1614763D06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0837E1-DA6C-8825-A905-09B06F2DF47E}"/>
              </a:ext>
            </a:extLst>
          </p:cNvPr>
          <p:cNvSpPr txBox="1"/>
          <p:nvPr/>
        </p:nvSpPr>
        <p:spPr>
          <a:xfrm>
            <a:off x="1536193" y="1253448"/>
            <a:ext cx="6148878" cy="4549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 Line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Salutation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Opening Line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Body (Divided into logical paragraphs)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Closing Line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Sign-off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Signature Block</a:t>
            </a:r>
          </a:p>
        </p:txBody>
      </p:sp>
      <p:pic>
        <p:nvPicPr>
          <p:cNvPr id="7" name="Online Media 6" title="How to Write an Email">
            <a:hlinkClick r:id="" action="ppaction://media"/>
            <a:extLst>
              <a:ext uri="{FF2B5EF4-FFF2-40B4-BE49-F238E27FC236}">
                <a16:creationId xmlns:a16="http://schemas.microsoft.com/office/drawing/2014/main" id="{360DD2EC-F57F-11F9-3E94-60D39B874AD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7453292" y="1146208"/>
            <a:ext cx="4033216" cy="554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9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F1A56-2423-4CAA-19E6-D2960295A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812508-735C-9626-05DE-CAAB90D44FA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E439604-6D57-BD88-587D-F43317C00F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D7585B9-9DBE-D9C8-61DE-35EA8A89358A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Explained with Example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3A770E-CFC0-3CF6-7244-9705C1793A70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4A43ED3-B701-1EC7-D9A4-3EA6A50B31FE}"/>
              </a:ext>
            </a:extLst>
          </p:cNvPr>
          <p:cNvSpPr txBox="1"/>
          <p:nvPr/>
        </p:nvSpPr>
        <p:spPr>
          <a:xfrm>
            <a:off x="1345640" y="996696"/>
            <a:ext cx="10773206" cy="5553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Subject:</a:t>
            </a: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Request for Project Extension – Submission Deadline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Salutation: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Dear Professor Sharma,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Opening Line: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hope this message finds you well.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Body: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am writing to request an extension on the submission deadline for our final-year project due on September 10th. Due to an unexpected personal emergency, I was unable to complete the remaining sections on time.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assure you that the remaining work will be completed by September 15th. I kindly request you to consider granting this extension.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821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E6C8-5E6B-502D-F58E-F6AC61EC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FC923-6E46-9A61-62E9-49C2EC91180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36B042F4-0AAA-F44E-B6A5-FC5ECEE09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AA53D5-F003-B80E-0FAA-A6344E9A1675}"/>
              </a:ext>
            </a:extLst>
          </p:cNvPr>
          <p:cNvSpPr/>
          <p:nvPr/>
        </p:nvSpPr>
        <p:spPr>
          <a:xfrm>
            <a:off x="1417835" y="292813"/>
            <a:ext cx="1051046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Components Explained with Example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F02E4F-69DF-9954-4A13-3ACD87C402A1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E2B0D0F-87F7-2BB1-7FFE-F0FA2814C596}"/>
              </a:ext>
            </a:extLst>
          </p:cNvPr>
          <p:cNvSpPr txBox="1"/>
          <p:nvPr/>
        </p:nvSpPr>
        <p:spPr>
          <a:xfrm>
            <a:off x="1536190" y="996696"/>
            <a:ext cx="9801821" cy="55684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 kindly request you to consider granting this extension.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Closing Line: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 for your understanding and support.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Sign-off: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Sincerely,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Signature Block: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Rahul Patel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Final Year – </a:t>
            </a:r>
            <a:r>
              <a:rPr lang="en-IN" sz="2800" i="1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B.Tech</a:t>
            </a: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(Computer Engineering)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Roll No: 21CE123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Parul University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399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1515-9734-D80F-9306-4F10320D1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AC429-189F-03F3-B5AA-2D84887B7C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149C2EF0-5D1A-6687-918E-48B3B60DB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97E5790-C843-5B8E-5EB6-9650FC4D3744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Etiquette Guidelines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DB54F03-7694-5437-4EEA-2B4EDF6CF79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40263AD-B1D3-2AB3-C6AB-5E0881022BA8}"/>
              </a:ext>
            </a:extLst>
          </p:cNvPr>
          <p:cNvSpPr txBox="1"/>
          <p:nvPr/>
        </p:nvSpPr>
        <p:spPr>
          <a:xfrm>
            <a:off x="1536191" y="1251618"/>
            <a:ext cx="9636304" cy="441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professional tone and appropriate language.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ALL CAPS and emoticons in professional emails.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concise subject lines.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Proofread for grammar and spelling errors.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Respond promptly.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Avoid unnecessary CC/BCC.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7049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4D718-F59B-D101-141B-AF2216286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3FAFC-D38B-AA71-1615-37B5DFB8773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E898D73C-1108-8117-180C-0E0647B1D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A4CB73C-A980-54B0-7F09-B5CE406A4048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Email Writing – Do’s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94AC5-F248-018C-423C-728A4A1FAB35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38AEB1-4E6B-DE38-EA0C-F66FF0FFB915}"/>
              </a:ext>
            </a:extLst>
          </p:cNvPr>
          <p:cNvSpPr txBox="1"/>
          <p:nvPr/>
        </p:nvSpPr>
        <p:spPr>
          <a:xfrm>
            <a:off x="1536191" y="1251618"/>
            <a:ext cx="9636304" cy="5416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Do’s: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Be polite and respectful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use courteous language and maintain a professional tone.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Keep it concise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Avoid unnecessary details; stick to the main point.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paragraphs and bullet points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help organize your message and improve readability.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 a proper signature block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Include your full name, course, and contact information.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561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2E28B-1FFE-A3BE-F3B6-12E73305A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77871-EFE3-C5C4-81AA-509C8514C5D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7C31B34F-E72E-1E33-0FB0-42FD16655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1717534-1E07-515C-2DBA-1471CDC69475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Email Writing – Don’ts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5FE128-24F6-06C2-17C4-61CD6C0D52BE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44CB1C6-425A-89CB-FC1B-26257DDF7B98}"/>
              </a:ext>
            </a:extLst>
          </p:cNvPr>
          <p:cNvSpPr txBox="1"/>
          <p:nvPr/>
        </p:nvSpPr>
        <p:spPr>
          <a:xfrm>
            <a:off x="1536191" y="1251618"/>
            <a:ext cx="9636304" cy="6840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Don’ts: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informal slang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reduces the professionalism and clarity of your message.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Forward unrelated threads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can confuse the recipient and clutter communication.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Ignore follow-ups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shows a lack of responsibility and may affect your credibility.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vague subject lines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 be specific to help the reader understand the purpose instantly.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>
              <a:lnSpc>
                <a:spcPct val="150000"/>
              </a:lnSpc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444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C3247-5D7B-A6C4-E133-D4A6F4659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44C757-8BC3-8371-1341-D8E15746DA6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5D775FE3-18C1-6873-1776-F84075C2A4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6E30D8B-D14E-1830-291A-69D1E0EBA345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Formal Email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514BC7-1AF9-AB15-D476-C5FFCD8C8AB8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8E6391D-768F-97DE-8B13-B75990AD2C5D}"/>
              </a:ext>
            </a:extLst>
          </p:cNvPr>
          <p:cNvSpPr txBox="1"/>
          <p:nvPr/>
        </p:nvSpPr>
        <p:spPr>
          <a:xfrm>
            <a:off x="873304" y="1050452"/>
            <a:ext cx="10572108" cy="584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Introducing a Team Member</a:t>
            </a:r>
          </a:p>
          <a:p>
            <a:pPr algn="just"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Introduction of New Team Member – [Team Member’s Name]</a:t>
            </a:r>
          </a:p>
          <a:p>
            <a:pPr algn="just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Dear Team,</a:t>
            </a:r>
          </a:p>
          <a:p>
            <a:pPr algn="just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pleased to introduce [Team Member’s Full Name], who has recently joined our team as [Position/Role]. [He/She/They] bring(s) extensive experience in [brief relevant expertise] and will be assisting us with [specific responsibilities or projects].</a:t>
            </a:r>
          </a:p>
          <a:p>
            <a:pPr algn="just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join me in welcoming [Team Member’s Name] and feel free to reach out to [him/her/them] for any related support or collaboration.</a:t>
            </a:r>
          </a:p>
          <a:p>
            <a:pPr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Regards,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[Your Full Name]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7318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648E5-C03F-D19E-AB65-CF34B8195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2E18CF-5054-D38A-C522-5686842F7C9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85797E94-78E0-6426-2EE4-DBB7F8E06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1083C38-AAA3-98D6-2B91-F6CF51B1A677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Sample Formal Email</a:t>
            </a:r>
            <a:endParaRPr lang="en-IN" sz="4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16EBDBF-F02D-A289-DD65-0C3B6AA54F8A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8AC9556-A35C-D6A9-D725-F676BE628222}"/>
              </a:ext>
            </a:extLst>
          </p:cNvPr>
          <p:cNvSpPr txBox="1"/>
          <p:nvPr/>
        </p:nvSpPr>
        <p:spPr>
          <a:xfrm>
            <a:off x="904126" y="308225"/>
            <a:ext cx="10541285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Complaint and Inquiry Email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Complaint and Request for Update on [Issue]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Dear [Recipient’s Name],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am concerned about [brief description of the issue]. Despite earlier messages, the issue is still unresolved and causing problems.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Please update me on the status and your company’s policy for such complaints.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for your quick response.</a:t>
            </a:r>
          </a:p>
          <a:p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Sincerely,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[Your Name]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[Your Contact Information]</a:t>
            </a:r>
          </a:p>
        </p:txBody>
      </p:sp>
    </p:spTree>
    <p:extLst>
      <p:ext uri="{BB962C8B-B14F-4D97-AF65-F5344CB8AC3E}">
        <p14:creationId xmlns:p14="http://schemas.microsoft.com/office/powerpoint/2010/main" val="77217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16F78-4CC5-69AD-981E-FA1B0D1E6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1610DE-24BC-45F0-C8EC-4DA393B8B20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45640" y="1325881"/>
            <a:ext cx="9636304" cy="2898647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74237C41-2736-1D8B-DD1D-70030D03EF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ABDF4A6-DDA0-0835-EC03-4FE81C9043B7}"/>
              </a:ext>
            </a:extLst>
          </p:cNvPr>
          <p:cNvSpPr/>
          <p:nvPr/>
        </p:nvSpPr>
        <p:spPr>
          <a:xfrm>
            <a:off x="1536191" y="219455"/>
            <a:ext cx="1039210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Mistakes to Avoid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7C02B3-5C68-A472-F8AA-1623601E4860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DC15766-9DA0-9F11-48F6-01ED4F3B37A3}"/>
              </a:ext>
            </a:extLst>
          </p:cNvPr>
          <p:cNvSpPr txBox="1"/>
          <p:nvPr/>
        </p:nvSpPr>
        <p:spPr>
          <a:xfrm>
            <a:off x="1536191" y="1251618"/>
            <a:ext cx="9636304" cy="6153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Typing errors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They create a negative impression and can alter the message’s meaning.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Incomplete information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leads to confusion and unnecessary back-and-forth communication.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Lack of greeting or closing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makes the email seem abrupt or impolite.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Overuse of jargon</a:t>
            </a:r>
            <a:b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It may confuse readers who are unfamiliar with technical terms.</a:t>
            </a: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84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881AA-79D3-267A-5A64-7D7A8845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A785E-2B41-7F7D-91ED-A9368D1330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B90E98CF-24F5-FCBD-B03F-00E3DE64A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DE3F32-E33F-4B52-41E3-112CC1082200}"/>
              </a:ext>
            </a:extLst>
          </p:cNvPr>
          <p:cNvSpPr/>
          <p:nvPr/>
        </p:nvSpPr>
        <p:spPr>
          <a:xfrm>
            <a:off x="1536191" y="244318"/>
            <a:ext cx="10655809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1 -Identify the Errors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EDBBC-38FA-6373-4C57-C6049B07C12F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60A9693-8D63-5E9B-7A02-34C9ABBD1EA8}"/>
              </a:ext>
            </a:extLst>
          </p:cNvPr>
          <p:cNvSpPr txBox="1"/>
          <p:nvPr/>
        </p:nvSpPr>
        <p:spPr>
          <a:xfrm>
            <a:off x="1463038" y="996696"/>
            <a:ext cx="10454984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Instructions: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identify and correct the mistakes</a:t>
            </a:r>
          </a:p>
          <a:p>
            <a:pPr algn="just">
              <a:buNone/>
            </a:pPr>
            <a:endParaRPr lang="en-US" sz="2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Subject: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IMPORTANT!!!! Read this NOW</a:t>
            </a:r>
          </a:p>
          <a:p>
            <a:pPr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buNone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hey students,</a:t>
            </a:r>
          </a:p>
          <a:p>
            <a:pPr algn="just">
              <a:buNone/>
            </a:pP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hope you all doing good.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wanted to tell you that the assignment is due next week so pls make sure to send it on time. if you have any questions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hesitate to ask me anytime. also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dont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forget to submit the report in PDF or word doc format.</a:t>
            </a:r>
          </a:p>
          <a:p>
            <a:pPr algn="just"/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thx</a:t>
            </a:r>
            <a:b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mr.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macwan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618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4D031-0BF6-BF2A-1051-5139BFFDA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D7153B-C835-57A2-300B-9B14AA2B38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944CD63-D805-AD24-07A6-1C1CC2412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4D52E18-9917-7C7A-4FAF-143FF6033A88}"/>
              </a:ext>
            </a:extLst>
          </p:cNvPr>
          <p:cNvSpPr/>
          <p:nvPr/>
        </p:nvSpPr>
        <p:spPr>
          <a:xfrm>
            <a:off x="1371600" y="203112"/>
            <a:ext cx="98724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2 -Draft an Email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978E8FB-3F32-5D92-9F5D-E0187B0465CB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AB436E-E225-3AEE-A7F6-4C4311AF81D2}"/>
              </a:ext>
            </a:extLst>
          </p:cNvPr>
          <p:cNvSpPr txBox="1"/>
          <p:nvPr/>
        </p:nvSpPr>
        <p:spPr>
          <a:xfrm>
            <a:off x="1371600" y="1185216"/>
            <a:ext cx="1009029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 an email seeking internship opportunities in a company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Include: Subject, Salutation, Body, Closing, and Signature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Peer Review: Exchange with a partner for feedback</a:t>
            </a:r>
          </a:p>
        </p:txBody>
      </p:sp>
    </p:spTree>
    <p:extLst>
      <p:ext uri="{BB962C8B-B14F-4D97-AF65-F5344CB8AC3E}">
        <p14:creationId xmlns:p14="http://schemas.microsoft.com/office/powerpoint/2010/main" val="3342649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C996D-E134-E864-A304-AF2E249C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94A59-A6A0-20F8-3482-A61D8A2281B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2FAC84E7-16D5-4A35-617E-370BC460D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718FBA-142D-80DF-B8D9-589CC4C94D72}"/>
              </a:ext>
            </a:extLst>
          </p:cNvPr>
          <p:cNvSpPr/>
          <p:nvPr/>
        </p:nvSpPr>
        <p:spPr>
          <a:xfrm>
            <a:off x="1371600" y="203112"/>
            <a:ext cx="987247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 2 -Draft an Email</a:t>
            </a:r>
            <a:endParaRPr lang="en-IN" sz="4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40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D20612-CB32-7BA0-A5D4-C4D2E72D1600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9C625D6-4F71-6B2D-F3B4-C2565171467A}"/>
              </a:ext>
            </a:extLst>
          </p:cNvPr>
          <p:cNvSpPr txBox="1"/>
          <p:nvPr/>
        </p:nvSpPr>
        <p:spPr>
          <a:xfrm>
            <a:off x="1371600" y="1185216"/>
            <a:ext cx="10090298" cy="2610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Task:</a:t>
            </a: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Draft an email seeking internship opportunities in a company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Include: Subject, Salutation, Body, Closing, and Signature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Peer Review: Exchange with a partner for feedback</a:t>
            </a:r>
          </a:p>
        </p:txBody>
      </p:sp>
    </p:spTree>
    <p:extLst>
      <p:ext uri="{BB962C8B-B14F-4D97-AF65-F5344CB8AC3E}">
        <p14:creationId xmlns:p14="http://schemas.microsoft.com/office/powerpoint/2010/main" val="11614878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91ECE-CCE6-963D-5F72-F61D79E22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B38E6-A07E-9392-8523-8062C87F4E1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300297"/>
            <a:ext cx="9525000" cy="5502838"/>
          </a:xfrm>
        </p:spPr>
        <p:txBody>
          <a:bodyPr>
            <a:noAutofit/>
          </a:bodyPr>
          <a:lstStyle/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800" dirty="0"/>
          </a:p>
          <a:p>
            <a:endParaRPr lang="en-IN" sz="2800" dirty="0"/>
          </a:p>
        </p:txBody>
      </p:sp>
      <p:pic>
        <p:nvPicPr>
          <p:cNvPr id="5" name="Picture 4" descr="cdc logo png black (1).png">
            <a:extLst>
              <a:ext uri="{FF2B5EF4-FFF2-40B4-BE49-F238E27FC236}">
                <a16:creationId xmlns:a16="http://schemas.microsoft.com/office/drawing/2014/main" id="{DD693BB1-81D1-99FB-E3F3-39B54FB1A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9A3B2E2-1450-81CA-2ADA-78AD9D7D793F}"/>
              </a:ext>
            </a:extLst>
          </p:cNvPr>
          <p:cNvSpPr/>
          <p:nvPr/>
        </p:nvSpPr>
        <p:spPr>
          <a:xfrm>
            <a:off x="1371600" y="205482"/>
            <a:ext cx="896420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C4BE45-70E0-BC5A-90ED-6A69BBFBE6C4}"/>
              </a:ext>
            </a:extLst>
          </p:cNvPr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9DCB7DB-6621-5D76-3E8D-33800D73570C}"/>
              </a:ext>
            </a:extLst>
          </p:cNvPr>
          <p:cNvSpPr txBox="1"/>
          <p:nvPr/>
        </p:nvSpPr>
        <p:spPr>
          <a:xfrm>
            <a:off x="1371600" y="1228378"/>
            <a:ext cx="9765587" cy="34899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Recap of key points: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</a:t>
            </a: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writing is a vital skill for engineers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Proper etiquette creates a lasting impression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	Practice and feedback lead to better communication</a:t>
            </a:r>
          </a:p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9153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371600" y="1561673"/>
            <a:ext cx="9525000" cy="403023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636776" y="235958"/>
            <a:ext cx="507093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8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Learning Outcomes </a:t>
            </a:r>
            <a:endParaRPr lang="en-US" sz="480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6045" y="1121818"/>
            <a:ext cx="10849509" cy="4291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By the end of this two-hour session, students will be able to: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Understand and apply the components of a formal email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Follow standard email etiquette in academic and professional settings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Draft clear, concise, and polite email messages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•	Recognize and avoid common email writing mistakes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5569D-4B51-26CD-C967-65D3F4059DB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 algn="ctr">
              <a:buNone/>
            </a:pPr>
            <a:r>
              <a:rPr lang="en-IN" sz="4800" dirty="0">
                <a:latin typeface="Calibri" pitchFamily="34" charset="0"/>
                <a:ea typeface="Calibri" pitchFamily="34" charset="0"/>
                <a:cs typeface="Calibri" pitchFamily="34" charset="0"/>
              </a:rPr>
              <a:t>Thank You </a:t>
            </a:r>
          </a:p>
        </p:txBody>
      </p:sp>
      <p:pic>
        <p:nvPicPr>
          <p:cNvPr id="5" name="Picture 4" descr="cdc logo png black 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4976" y="18289"/>
            <a:ext cx="2023871" cy="982104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1536192" y="996696"/>
            <a:ext cx="8211312" cy="18288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628484"/>
      </p:ext>
    </p:extLst>
  </p:cSld>
  <p:clrMapOvr>
    <a:masterClrMapping/>
  </p:clrMapOvr>
</p:sld>
</file>

<file path=ppt/theme/theme1.xml><?xml version="1.0" encoding="utf-8"?>
<a:theme xmlns:a="http://schemas.openxmlformats.org/drawingml/2006/main" name="ModOverlayVTI">
  <a:themeElements>
    <a:clrScheme name="Custom 50">
      <a:dk1>
        <a:sysClr val="windowText" lastClr="000000"/>
      </a:dk1>
      <a:lt1>
        <a:srgbClr val="F4F2EC"/>
      </a:lt1>
      <a:dk2>
        <a:srgbClr val="09283F"/>
      </a:dk2>
      <a:lt2>
        <a:srgbClr val="FFFFFF"/>
      </a:lt2>
      <a:accent1>
        <a:srgbClr val="3C9A8F"/>
      </a:accent1>
      <a:accent2>
        <a:srgbClr val="18818C"/>
      </a:accent2>
      <a:accent3>
        <a:srgbClr val="800A2F"/>
      </a:accent3>
      <a:accent4>
        <a:srgbClr val="F6635C"/>
      </a:accent4>
      <a:accent5>
        <a:srgbClr val="F48E7C"/>
      </a:accent5>
      <a:accent6>
        <a:srgbClr val="DA9D16"/>
      </a:accent6>
      <a:hlink>
        <a:srgbClr val="ED621D"/>
      </a:hlink>
      <a:folHlink>
        <a:srgbClr val="A18A6D"/>
      </a:folHlink>
    </a:clrScheme>
    <a:fontScheme name="Elephant Arial Nova Light">
      <a:majorFont>
        <a:latin typeface="Elephan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OverlayVTI" id="{85202D65-63D3-4793-A090-FA8DF18DC0BE}" vid="{91924FCD-E846-48AE-B233-F25A78D18B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38B8CBF-35BC-4CBA-95E2-584C08F6185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227BAF2-BB0B-4E7B-AE5A-2E47729F98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2AE0DF-6B5F-4274-A760-FE77CC84C90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ModOverlayVTI</Template>
  <TotalTime>887</TotalTime>
  <Words>1107</Words>
  <Application>Microsoft Office PowerPoint</Application>
  <PresentationFormat>Widescreen</PresentationFormat>
  <Paragraphs>176</Paragraphs>
  <Slides>19</Slides>
  <Notes>19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Nova Light</vt:lpstr>
      <vt:lpstr>Calibri</vt:lpstr>
      <vt:lpstr>Elephant</vt:lpstr>
      <vt:lpstr>Symbol</vt:lpstr>
      <vt:lpstr>ModOverlayVTI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ABC</dc:creator>
  <cp:lastModifiedBy>MOHINI MACWAN</cp:lastModifiedBy>
  <cp:revision>169</cp:revision>
  <dcterms:created xsi:type="dcterms:W3CDTF">2024-01-11T09:03:24Z</dcterms:created>
  <dcterms:modified xsi:type="dcterms:W3CDTF">2025-05-30T04:06:50Z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