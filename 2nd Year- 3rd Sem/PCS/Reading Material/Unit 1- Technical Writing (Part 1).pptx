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2"/>
  </p:notesMasterIdLst>
  <p:handoutMasterIdLst>
    <p:handoutMasterId r:id="rId23"/>
  </p:handoutMasterIdLst>
  <p:sldIdLst>
    <p:sldId id="437" r:id="rId5"/>
    <p:sldId id="461" r:id="rId6"/>
    <p:sldId id="453" r:id="rId7"/>
    <p:sldId id="466" r:id="rId8"/>
    <p:sldId id="489" r:id="rId9"/>
    <p:sldId id="490" r:id="rId10"/>
    <p:sldId id="491" r:id="rId11"/>
    <p:sldId id="493" r:id="rId12"/>
    <p:sldId id="494" r:id="rId13"/>
    <p:sldId id="495" r:id="rId14"/>
    <p:sldId id="496" r:id="rId15"/>
    <p:sldId id="497" r:id="rId16"/>
    <p:sldId id="484" r:id="rId17"/>
    <p:sldId id="485" r:id="rId18"/>
    <p:sldId id="487" r:id="rId19"/>
    <p:sldId id="458" r:id="rId20"/>
    <p:sldId id="4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187"/>
    <a:srgbClr val="0C4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6" autoAdjust="0"/>
    <p:restoredTop sz="95394" autoAdjust="0"/>
  </p:normalViewPr>
  <p:slideViewPr>
    <p:cSldViewPr snapToGrid="0">
      <p:cViewPr varScale="1">
        <p:scale>
          <a:sx n="62" d="100"/>
          <a:sy n="62" d="100"/>
        </p:scale>
        <p:origin x="864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714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71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4D2272-D660-A337-AEF3-BE066BD545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5A70-71C2-F335-270C-B94537340C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5A369-CA0E-4FC6-90EE-5FA969A08EF8}" type="datetimeFigureOut">
              <a:rPr lang="en-US" smtClean="0"/>
              <a:pPr/>
              <a:t>5/29/2025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E1B03-0F86-16E7-11BE-81F9F4CD66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524B8-3914-99B2-2620-0F2A88D335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210F9-8331-407C-A034-F95DCB303E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05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AB06A-EEDC-421C-B5A0-5E9E5241A8E5}" type="datetimeFigureOut">
              <a:rPr lang="en-US" smtClean="0"/>
              <a:pPr/>
              <a:t>5/29/2025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9438-3EEF-4192-9815-F6F44770AE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630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1BFEA-836C-4827-9E4C-60E9CA324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90575-D03D-F529-CC72-F53145785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8554A-1F94-95C6-4ABF-9F44C1BBD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F41D5-3533-799D-6161-FCF4A07A2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00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3F3A3-E30B-096A-667C-53541EEDD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14D54E-79FA-5B03-0AD5-5A6C683D8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C724B-60F6-B8BA-E1BA-ACCAB8013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C3DD9-6C4F-4D4A-893D-1E3EC3243B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21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9A14C-0767-4D7A-5F2B-E44C13AA4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2DB9D0-1AF9-2E04-96C9-BF83A87B3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B314E2-EAFE-D23D-73B6-B071ABAFF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1C46A-4574-37BA-85C3-19686477B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993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FBE25-99E0-BF09-892E-F42A983AD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11DBFA-1908-D805-2ED5-33EBCC5D5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AC3E4-81AC-238F-136B-AFB0B0A66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A7E75-4973-9521-026F-90F0C8A3B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695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E7C66-9D0C-DBCC-1E53-5A57DC29E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4D566-8657-31CA-2875-BA6645C0F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87E70F-56F7-CEAA-4628-DB5CE1D0F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D4DC9-3350-1C86-CF1E-EF0EBCE33A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138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2E285-ABBD-2D35-3D16-67644B922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32E3F2-CC46-CE5B-4C84-D191F3077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81A163-A4AC-EC51-A496-225DB96B5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DD720-3C81-8499-6C3B-E6E9F93BB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648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44194-54FC-5824-D9B2-046B82D57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70D258-F086-6B0D-7A1F-F85CC3F4D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09996D-8344-C0C9-E868-C995622F6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7F71B-E278-AE67-51B0-124AED7EA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5229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71505-2B8A-AA3A-EA1D-0D1F3AB24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DE98FE-90ED-09D7-F312-4CF7E7D35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A40590-0BBA-A5B0-C415-F5B35AD8B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B2464-560A-D6AA-F4C0-027FB80DD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3259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861DB-332C-1920-C2E0-0FF584ED9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5679A6-3F77-AD24-A175-01FC2A073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73C0A-7B6C-88DC-06DB-77648384B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73D37-511A-E2B3-3D30-B3B219286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3337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76AA-661C-D161-00BA-B48BB8B67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C5057-DDBC-B060-4162-B4C9F0199D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D72C52-B8CA-20C9-AF62-B54F9306E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D23C7-318A-F562-A646-F16E9F38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8111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6DF47-5C67-3288-3731-510296129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AB57A-30D7-B3D8-FF94-2566C1C29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AB2B1-21EC-A605-247E-42039CFFB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0236C-CA9C-EC32-FCE3-87F83FBF6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0635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E3658-D35B-6636-B052-5536A5DF4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48F1D-398C-A553-F2C9-CA69B6A67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FBEBD-60B8-B5B4-8E34-86109D67C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C296C-079F-8C64-26E3-A5D668AED3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4126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11306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27875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90660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6402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7700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62912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954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7370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428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43088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72804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b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BA2562-20F9-9DC8-81EB-6ED26B24D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 25">
            <a:extLst>
              <a:ext uri="{FF2B5EF4-FFF2-40B4-BE49-F238E27FC236}">
                <a16:creationId xmlns:a16="http://schemas.microsoft.com/office/drawing/2014/main" id="{369E878B-C75C-98DC-B694-2C40507C4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75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27">
            <a:extLst>
              <a:ext uri="{FF2B5EF4-FFF2-40B4-BE49-F238E27FC236}">
                <a16:creationId xmlns:a16="http://schemas.microsoft.com/office/drawing/2014/main" id="{DC03A063-67E0-718E-206C-6C807C20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5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6D86FEEF-2721-A616-B636-7C6F8B1B5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4AC20A76-77DC-62F7-C0E5-66C03853B3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1478396"/>
            <a:ext cx="3710355" cy="344529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CF99A149-DEF4-9E0F-D0DE-E859DB6CA5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465" y="1477963"/>
            <a:ext cx="5536135" cy="3446462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6867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10C35C-5361-BD30-EB79-01BD72158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 26">
            <a:extLst>
              <a:ext uri="{FF2B5EF4-FFF2-40B4-BE49-F238E27FC236}">
                <a16:creationId xmlns:a16="http://schemas.microsoft.com/office/drawing/2014/main" id="{948A7171-32A3-1CAC-DDFD-7C44DDAF0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47">
            <a:extLst>
              <a:ext uri="{FF2B5EF4-FFF2-40B4-BE49-F238E27FC236}">
                <a16:creationId xmlns:a16="http://schemas.microsoft.com/office/drawing/2014/main" id="{06FD5EAC-FAC4-CDB4-6AB8-809E940F0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DA13352-25BC-FD28-A34C-DD204D5BF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48" y="246183"/>
            <a:ext cx="9525000" cy="1919521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34108AC-4ED2-99E6-0212-0AC0802C55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1600" y="2274033"/>
            <a:ext cx="9525000" cy="3317875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596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29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5" r:id="rId12"/>
    <p:sldLayoutId id="214748372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video" Target="https://www.youtube.com/embed/hoIPduR_egg?feature=oembed" TargetMode="Externa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dc logo png black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56" y="85343"/>
            <a:ext cx="2761488" cy="13400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1444752"/>
            <a:ext cx="9421402" cy="3586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Technical Writing </a:t>
            </a:r>
          </a:p>
          <a:p>
            <a:pPr algn="ctr"/>
            <a:r>
              <a:rPr lang="en-US" sz="5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Letter Writing </a:t>
            </a:r>
          </a:p>
          <a:p>
            <a:pPr algn="ctr"/>
            <a:r>
              <a:rPr lang="en-IN" sz="32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Semester 3 – Professional Communication Skills  (</a:t>
            </a:r>
            <a:r>
              <a:rPr lang="en-IN" sz="32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303193203</a:t>
            </a: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ctr">
              <a:lnSpc>
                <a:spcPct val="200000"/>
              </a:lnSpc>
            </a:pP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017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 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 descr="cdc logo png black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10934" y="192024"/>
            <a:ext cx="56122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Learning Objectives</a:t>
            </a:r>
            <a:endParaRPr lang="en-US" sz="48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95400" y="698644"/>
            <a:ext cx="9558528" cy="5616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endParaRPr lang="en-US" sz="28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 the structure and format of professional emails and letters.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Apply email etiquette in various communication scenarios.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Draft formal and informal emails using appropriate tone and structure.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Compose business letters such as inquiries, replies, and complaints.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Improve clarity, conciseness, and professionalism in written communication.</a:t>
            </a:r>
          </a:p>
          <a:p>
            <a:pPr algn="just"/>
            <a:endParaRPr lang="en-US" sz="28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10934" y="256032"/>
            <a:ext cx="35274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Introduction</a:t>
            </a:r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30693D6-5A85-1846-06B5-34DB3F1BE66A}"/>
              </a:ext>
            </a:extLst>
          </p:cNvPr>
          <p:cNvSpPr txBox="1"/>
          <p:nvPr/>
        </p:nvSpPr>
        <p:spPr>
          <a:xfrm>
            <a:off x="1536192" y="1228252"/>
            <a:ext cx="1019556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Letters are formal tools of written communication in academic, professional, and business contexts.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correct formats and etiquette is essential.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Letters convey important messages and require clarity, tone, and structure.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FE985-B3CD-D556-018E-3E4FAF80C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38A77-D7DF-DA21-22C3-610C620ACE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45640" y="1325881"/>
            <a:ext cx="9636304" cy="2898647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D888653C-4A78-D1B2-DBE9-160349AE7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182D31-A76D-C57F-52C6-2D907B26E328}"/>
              </a:ext>
            </a:extLst>
          </p:cNvPr>
          <p:cNvSpPr/>
          <p:nvPr/>
        </p:nvSpPr>
        <p:spPr>
          <a:xfrm>
            <a:off x="1536191" y="219455"/>
            <a:ext cx="1039210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Importance of Letter Writing</a:t>
            </a:r>
          </a:p>
          <a:p>
            <a:endParaRPr lang="en-IN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F87762D-B0A1-05AF-F553-452DDA93B71A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DA970D2-AE0C-5CD1-12DE-1D4F850DF7ED}"/>
              </a:ext>
            </a:extLst>
          </p:cNvPr>
          <p:cNvSpPr txBox="1"/>
          <p:nvPr/>
        </p:nvSpPr>
        <p:spPr>
          <a:xfrm>
            <a:off x="1345639" y="1340472"/>
            <a:ext cx="10184945" cy="498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Builds professional image: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Formal communication shows that you are serious, respectful, and professional, helping to create a positive impression.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 in job applications, inquiries, complaints, and official replies: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is essential for communicating in formal situations like applying for jobs, asking for information, making complaints, or responding officially.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Provides a record of communication: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keeps a written record that can be referred to later for clarity, proof, or follow-up.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320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A3F03-37DC-26E5-763D-77B4388FA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A9428-736E-0ADE-A549-1D773E584F8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45640" y="1325881"/>
            <a:ext cx="9636304" cy="2898647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053FC5FE-C230-CC10-FFA5-CE919274C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C41067A-C220-7D15-B008-B987E0D39A6B}"/>
              </a:ext>
            </a:extLst>
          </p:cNvPr>
          <p:cNvSpPr/>
          <p:nvPr/>
        </p:nvSpPr>
        <p:spPr>
          <a:xfrm>
            <a:off x="1536191" y="219455"/>
            <a:ext cx="1039210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Letters</a:t>
            </a:r>
          </a:p>
          <a:p>
            <a:endParaRPr lang="en-IN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4511F7-00F0-779F-0FC2-7F3FADBF2F8A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826664A-41A8-9700-58EE-22DDD02A7FF2}"/>
              </a:ext>
            </a:extLst>
          </p:cNvPr>
          <p:cNvSpPr txBox="1"/>
          <p:nvPr/>
        </p:nvSpPr>
        <p:spPr>
          <a:xfrm>
            <a:off x="1536190" y="1033272"/>
            <a:ext cx="5664865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Inquiry Letter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Requesting information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Complaint Letter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Highlighting an issue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Reply Letter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Responding to inquiries or complaints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 Letter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Job or internship applications</a:t>
            </a:r>
          </a:p>
        </p:txBody>
      </p:sp>
      <p:pic>
        <p:nvPicPr>
          <p:cNvPr id="2" name="Online Media 1" title="Formal Letter | How to Write a Formal Letter | Eight Step | Format">
            <a:hlinkClick r:id="" action="ppaction://media"/>
            <a:extLst>
              <a:ext uri="{FF2B5EF4-FFF2-40B4-BE49-F238E27FC236}">
                <a16:creationId xmlns:a16="http://schemas.microsoft.com/office/drawing/2014/main" id="{7A126461-6EB9-1417-D315-B17CDE1B4C8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7315200" y="1138171"/>
            <a:ext cx="4315146" cy="450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307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DAE92-E269-9CF9-E671-A0AD05C9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E12C3-4BF5-51A4-A00A-44BE0B56DB7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45640" y="1325881"/>
            <a:ext cx="9636304" cy="2898647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9CFC48AD-B713-2C36-6488-5FFC865C5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D8CDF1-6C10-D837-5590-2B278DC2DD05}"/>
              </a:ext>
            </a:extLst>
          </p:cNvPr>
          <p:cNvSpPr/>
          <p:nvPr/>
        </p:nvSpPr>
        <p:spPr>
          <a:xfrm>
            <a:off x="1536191" y="219455"/>
            <a:ext cx="1039210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 of a Formal Letter</a:t>
            </a:r>
          </a:p>
          <a:p>
            <a:endParaRPr lang="en-IN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74CCC6-2050-5DD2-117E-A67891A377FF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FF5BF46-6341-9A4B-99C4-994BA5207BD5}"/>
              </a:ext>
            </a:extLst>
          </p:cNvPr>
          <p:cNvSpPr txBox="1"/>
          <p:nvPr/>
        </p:nvSpPr>
        <p:spPr>
          <a:xfrm>
            <a:off x="1345639" y="1340472"/>
            <a:ext cx="10184945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Sender’s Address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Receiver’s Designation &amp; Address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 Line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Salutation (e.g., Respected Sir/Madam)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Body (Intro, Details, Conclusion)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Complimentary Close (e.g., Yours sincerely)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Signature and Name</a:t>
            </a:r>
          </a:p>
        </p:txBody>
      </p:sp>
    </p:spTree>
    <p:extLst>
      <p:ext uri="{BB962C8B-B14F-4D97-AF65-F5344CB8AC3E}">
        <p14:creationId xmlns:p14="http://schemas.microsoft.com/office/powerpoint/2010/main" val="2300265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8E203-65BE-82C4-8B70-05A94F3C2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25506-B15D-45D1-A4AA-C19E3215207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45640" y="1325881"/>
            <a:ext cx="9636304" cy="2898647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BBD0584F-438F-8594-B04D-FAD7A1AEB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3FDF8F5-9758-AA2A-3F6C-B74E5D9C37F9}"/>
              </a:ext>
            </a:extLst>
          </p:cNvPr>
          <p:cNvSpPr/>
          <p:nvPr/>
        </p:nvSpPr>
        <p:spPr>
          <a:xfrm>
            <a:off x="1438382" y="212506"/>
            <a:ext cx="1048991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Mnemonic for Letter Format – SODARC</a:t>
            </a:r>
          </a:p>
          <a:p>
            <a:endParaRPr lang="en-IN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DB1AF0-8009-8C52-263B-788D8A9D9CD5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DF8EDB-72C9-09EE-7309-2046B44BC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575612"/>
              </p:ext>
            </p:extLst>
          </p:nvPr>
        </p:nvGraphicFramePr>
        <p:xfrm>
          <a:off x="1027416" y="1051560"/>
          <a:ext cx="10302000" cy="5593934"/>
        </p:xfrm>
        <a:graphic>
          <a:graphicData uri="http://schemas.openxmlformats.org/drawingml/2006/table">
            <a:tbl>
              <a:tblPr/>
              <a:tblGrid>
                <a:gridCol w="3376944">
                  <a:extLst>
                    <a:ext uri="{9D8B030D-6E8A-4147-A177-3AD203B41FA5}">
                      <a16:colId xmlns:a16="http://schemas.microsoft.com/office/drawing/2014/main" val="1201380258"/>
                    </a:ext>
                  </a:extLst>
                </a:gridCol>
                <a:gridCol w="3462528">
                  <a:extLst>
                    <a:ext uri="{9D8B030D-6E8A-4147-A177-3AD203B41FA5}">
                      <a16:colId xmlns:a16="http://schemas.microsoft.com/office/drawing/2014/main" val="1942055298"/>
                    </a:ext>
                  </a:extLst>
                </a:gridCol>
                <a:gridCol w="3462528">
                  <a:extLst>
                    <a:ext uri="{9D8B030D-6E8A-4147-A177-3AD203B41FA5}">
                      <a16:colId xmlns:a16="http://schemas.microsoft.com/office/drawing/2014/main" val="3787802347"/>
                    </a:ext>
                  </a:extLst>
                </a:gridCol>
              </a:tblGrid>
              <a:tr h="502542">
                <a:tc>
                  <a:txBody>
                    <a:bodyPr/>
                    <a:lstStyle/>
                    <a:p>
                      <a:r>
                        <a:rPr lang="en-IN" sz="2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421402"/>
                  </a:ext>
                </a:extLst>
              </a:tr>
              <a:tr h="916399"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Sender’s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Top left corner of the letter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729123"/>
                  </a:ext>
                </a:extLst>
              </a:tr>
              <a:tr h="916399">
                <a:tc>
                  <a:txBody>
                    <a:bodyPr/>
                    <a:lstStyle/>
                    <a:p>
                      <a:r>
                        <a:rPr lang="en-IN" sz="2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Opening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Leave a line after address, write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86207"/>
                  </a:ext>
                </a:extLst>
              </a:tr>
              <a:tr h="1020182">
                <a:tc>
                  <a:txBody>
                    <a:bodyPr/>
                    <a:lstStyle/>
                    <a:p>
                      <a:r>
                        <a:rPr lang="en-IN" sz="2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Designation/Receiver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Mention designation if known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996791"/>
                  </a:ext>
                </a:extLst>
              </a:tr>
              <a:tr h="502542">
                <a:tc>
                  <a:txBody>
                    <a:bodyPr/>
                    <a:lstStyle/>
                    <a:p>
                      <a:r>
                        <a:rPr lang="en-IN" sz="2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Address of Receiver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Full postal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802177"/>
                  </a:ext>
                </a:extLst>
              </a:tr>
              <a:tr h="702792">
                <a:tc>
                  <a:txBody>
                    <a:bodyPr/>
                    <a:lstStyle/>
                    <a:p>
                      <a:r>
                        <a:rPr lang="en-IN" sz="2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Respected Salutation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Respected Sir/Madam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182386"/>
                  </a:ext>
                </a:extLst>
              </a:tr>
              <a:tr h="916399">
                <a:tc>
                  <a:txBody>
                    <a:bodyPr/>
                    <a:lstStyle/>
                    <a:p>
                      <a:r>
                        <a:rPr lang="en-IN" sz="2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Content &amp; Closing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Body (3 parts) and formal closing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79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6507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20FAF-3945-4C7D-A679-ACF3F0662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4AFC3-8360-72E2-FF0F-726AA9BA205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45640" y="1298449"/>
            <a:ext cx="9636304" cy="2898647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3AFF58B9-CAE9-F562-329C-8F510CCE4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13FA4AB-507C-8DAF-8CD0-92255A7E4D3F}"/>
              </a:ext>
            </a:extLst>
          </p:cNvPr>
          <p:cNvSpPr/>
          <p:nvPr/>
        </p:nvSpPr>
        <p:spPr>
          <a:xfrm>
            <a:off x="1536191" y="219455"/>
            <a:ext cx="1039210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 – Inquiry Letter</a:t>
            </a:r>
          </a:p>
          <a:p>
            <a:endParaRPr lang="en-IN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55093F-2166-AE41-59E5-9450282CA883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F7D26B9-3D43-8417-79BB-89865630D3A0}"/>
              </a:ext>
            </a:extLst>
          </p:cNvPr>
          <p:cNvSpPr txBox="1"/>
          <p:nvPr/>
        </p:nvSpPr>
        <p:spPr>
          <a:xfrm>
            <a:off x="1345639" y="1340472"/>
            <a:ext cx="10184945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Topic: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Requesting course brochure from an institution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Sender’s info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 line: Inquiry Regarding Postgraduate Course Brochure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Three-paragraph body: Intro, Request details, Thank you note</a:t>
            </a:r>
          </a:p>
        </p:txBody>
      </p:sp>
    </p:spTree>
    <p:extLst>
      <p:ext uri="{BB962C8B-B14F-4D97-AF65-F5344CB8AC3E}">
        <p14:creationId xmlns:p14="http://schemas.microsoft.com/office/powerpoint/2010/main" val="3879082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46795-CDFB-3DF6-29F3-AA2AAB768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B1156-B686-7132-211C-15B3264E2FD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45640" y="1298449"/>
            <a:ext cx="9636304" cy="2898647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D66E142B-C385-11E9-750E-AEE1F3FE2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DF0E91B-9C0A-9763-D84B-C5B059B6D959}"/>
              </a:ext>
            </a:extLst>
          </p:cNvPr>
          <p:cNvSpPr/>
          <p:nvPr/>
        </p:nvSpPr>
        <p:spPr>
          <a:xfrm>
            <a:off x="1536191" y="219455"/>
            <a:ext cx="1039210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 – Complaint Letter</a:t>
            </a:r>
          </a:p>
          <a:p>
            <a:endParaRPr lang="en-IN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7819CDD-0463-E899-60A6-B35F3F69C36E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EDC3073-2D87-03F7-BA72-223602719098}"/>
              </a:ext>
            </a:extLst>
          </p:cNvPr>
          <p:cNvSpPr txBox="1"/>
          <p:nvPr/>
        </p:nvSpPr>
        <p:spPr>
          <a:xfrm>
            <a:off x="1345639" y="1340472"/>
            <a:ext cx="10184945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Topic: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Complaint about defective product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Formal tone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Facts: Product details, issue experienced, expected resolution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Polite yet firm language</a:t>
            </a:r>
          </a:p>
        </p:txBody>
      </p:sp>
    </p:spTree>
    <p:extLst>
      <p:ext uri="{BB962C8B-B14F-4D97-AF65-F5344CB8AC3E}">
        <p14:creationId xmlns:p14="http://schemas.microsoft.com/office/powerpoint/2010/main" val="4216318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1F7DD-4F41-4B6B-D646-4DE3C5331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6052D-64F1-EE8F-33C0-43C778597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45640" y="1298449"/>
            <a:ext cx="9636304" cy="2898647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E9B6A009-166D-0604-D26C-5EE2197A1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05C7B1-4E11-C16B-9C9C-B366DA29F583}"/>
              </a:ext>
            </a:extLst>
          </p:cNvPr>
          <p:cNvSpPr/>
          <p:nvPr/>
        </p:nvSpPr>
        <p:spPr>
          <a:xfrm>
            <a:off x="1536191" y="219455"/>
            <a:ext cx="1039210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 – Reply Letter</a:t>
            </a:r>
          </a:p>
          <a:p>
            <a:endParaRPr lang="en-IN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C501A1-6E1C-294B-8324-FCBC90D37432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33A2284-2D4E-7FE4-8F14-04E21030E579}"/>
              </a:ext>
            </a:extLst>
          </p:cNvPr>
          <p:cNvSpPr txBox="1"/>
          <p:nvPr/>
        </p:nvSpPr>
        <p:spPr>
          <a:xfrm>
            <a:off x="1345639" y="1340472"/>
            <a:ext cx="10184945" cy="311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Topic: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Response to an inquiry about hostel accommodation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Acknowledge the inquiry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clear and structured response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 contact or follow-up details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569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AD2D4-91BA-5735-F4D1-B4E21572D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932E73-0290-185F-FAF3-3AA3C87265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45640" y="1298449"/>
            <a:ext cx="9636304" cy="2898647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C8CA601C-7980-F088-1954-7A908CA93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0E89DD4-384B-C1CA-14A3-A1A533B16BBE}"/>
              </a:ext>
            </a:extLst>
          </p:cNvPr>
          <p:cNvSpPr/>
          <p:nvPr/>
        </p:nvSpPr>
        <p:spPr>
          <a:xfrm>
            <a:off x="1536192" y="219455"/>
            <a:ext cx="1039210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Letter Writing Etiquette – Dos</a:t>
            </a:r>
          </a:p>
          <a:p>
            <a:endParaRPr lang="en-IN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2CABF6-D64F-B4AE-3350-D2D7C75276F2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15E4C1D-DD0B-174E-456A-2D2B37DE619E}"/>
              </a:ext>
            </a:extLst>
          </p:cNvPr>
          <p:cNvSpPr txBox="1"/>
          <p:nvPr/>
        </p:nvSpPr>
        <p:spPr>
          <a:xfrm>
            <a:off x="1536192" y="1051560"/>
            <a:ext cx="9994392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polite and respectful language: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a courteous tone to show professionalism and respect.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Keep the content clear and concise: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simply and directly to ensure easy understanding.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Proofread for grammar and structure: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for errors to keep the message correct and professional.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logical flow (intro–body–conclusion):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Organize ideas clearly for smooth and effective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3532653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36BC5-90B5-F563-7D12-E8ECC587E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BB2376-9FE2-9D9B-EE2B-7A41249B623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45640" y="1298449"/>
            <a:ext cx="9636304" cy="2898647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86EF8E00-D685-A62A-D4B3-98B31FBF2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82D434-D933-F7E9-E29F-D6768BD74430}"/>
              </a:ext>
            </a:extLst>
          </p:cNvPr>
          <p:cNvSpPr/>
          <p:nvPr/>
        </p:nvSpPr>
        <p:spPr>
          <a:xfrm>
            <a:off x="1536191" y="219455"/>
            <a:ext cx="1039210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Letter Writing Etiquette – Don’ts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1F013C-E94A-D7A9-C6E9-3F851D87FDE4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BB48B66-438A-B696-F8DE-521E6E7D612B}"/>
              </a:ext>
            </a:extLst>
          </p:cNvPr>
          <p:cNvSpPr txBox="1"/>
          <p:nvPr/>
        </p:nvSpPr>
        <p:spPr>
          <a:xfrm>
            <a:off x="1138481" y="1014984"/>
            <a:ext cx="10392104" cy="5092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Don’t use contractions or informal words: 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full forms and formal vocabulary to maintain a professional tone.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Avoid spelling errors and poor formatting: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Ensure correct spelling and proper layout for clarity and a polished appearance.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Don’t be emotional or aggressive: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Keep your tone calm and respectful, even when expressing concerns or disagreements.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Avoid vague subject lines or unstructured content: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clear subject lines and organize your content logically to make your message easy to understand.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70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881AA-79D3-267A-5A64-7D7A88453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A785E-2B41-7F7D-91ED-A9368D13303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B90E98CF-24F5-FCBD-B03F-00E3DE64A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2DE3F32-E33F-4B52-41E3-112CC1082200}"/>
              </a:ext>
            </a:extLst>
          </p:cNvPr>
          <p:cNvSpPr/>
          <p:nvPr/>
        </p:nvSpPr>
        <p:spPr>
          <a:xfrm>
            <a:off x="1536191" y="244318"/>
            <a:ext cx="1065580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 1 -Letter Correction Challenge</a:t>
            </a:r>
          </a:p>
          <a:p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3EDBBC-38FA-6373-4C57-C6049B07C12F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60A9693-8D63-5E9B-7A02-34C9ABBD1EA8}"/>
              </a:ext>
            </a:extLst>
          </p:cNvPr>
          <p:cNvSpPr txBox="1"/>
          <p:nvPr/>
        </p:nvSpPr>
        <p:spPr>
          <a:xfrm>
            <a:off x="1536190" y="1190775"/>
            <a:ext cx="8779064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Instructions: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 students a sample formal letter with intentional mistakes in tone, format, grammar, and structure.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Ask them to work in pairs or small groups to identify and correct the issues.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10–15 minutes, discuss the corrected versions as a class, highlighting key points on etiquette, clarity, and structure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1618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4D031-0BF6-BF2A-1051-5139BFFDA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7153B-C835-57A2-300B-9B14AA2B38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D944CD63-D805-AD24-07A6-1C1CC2412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4D52E18-9917-7C7A-4FAF-143FF6033A88}"/>
              </a:ext>
            </a:extLst>
          </p:cNvPr>
          <p:cNvSpPr/>
          <p:nvPr/>
        </p:nvSpPr>
        <p:spPr>
          <a:xfrm>
            <a:off x="904126" y="-138223"/>
            <a:ext cx="1033994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 2 -Write and Swap – Purpose-Based       Letter Writing</a:t>
            </a:r>
            <a:endParaRPr lang="en-IN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78E8FB-3F32-5D92-9F5D-E0187B0465CB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8AB436E-E225-3AEE-A7F6-4C4311AF81D2}"/>
              </a:ext>
            </a:extLst>
          </p:cNvPr>
          <p:cNvSpPr txBox="1"/>
          <p:nvPr/>
        </p:nvSpPr>
        <p:spPr>
          <a:xfrm>
            <a:off x="947928" y="904127"/>
            <a:ext cx="1051397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Instructions: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 each student or pair a different letter type (e.g., job application, inquiry, complaint, request for information, response to an official letter).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Have them write a formal letter using the correct format (sender's address, date, salutation, body, closing, signature).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Once complete, they swap letters with another pair for peer review, focusing on tone, clarity, structure, and etiquette.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Optionally, a few letters can be read aloud and discussed in class.</a:t>
            </a:r>
          </a:p>
        </p:txBody>
      </p:sp>
    </p:spTree>
    <p:extLst>
      <p:ext uri="{BB962C8B-B14F-4D97-AF65-F5344CB8AC3E}">
        <p14:creationId xmlns:p14="http://schemas.microsoft.com/office/powerpoint/2010/main" val="3342649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91ECE-CCE6-963D-5F72-F61D79E22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B38E6-A07E-9392-8523-8062C87F4E1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DD693BB1-81D1-99FB-E3F3-39B54FB1A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A3B2E2-1450-81CA-2ADA-78AD9D7D793F}"/>
              </a:ext>
            </a:extLst>
          </p:cNvPr>
          <p:cNvSpPr/>
          <p:nvPr/>
        </p:nvSpPr>
        <p:spPr>
          <a:xfrm>
            <a:off x="1371600" y="205482"/>
            <a:ext cx="896420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C4BE45-70E0-BC5A-90ED-6A69BBFBE6C4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9DCB7DB-6621-5D76-3E8D-33800D73570C}"/>
              </a:ext>
            </a:extLst>
          </p:cNvPr>
          <p:cNvSpPr txBox="1"/>
          <p:nvPr/>
        </p:nvSpPr>
        <p:spPr>
          <a:xfrm>
            <a:off x="1371600" y="1228378"/>
            <a:ext cx="9765587" cy="451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Recap of key points:</a:t>
            </a: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Emails and letters are structured forms of written communication.</a:t>
            </a: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 proper etiquette and use clear, concise language.</a:t>
            </a: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Formal and informal formats differ in tone and content.</a:t>
            </a: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mnemonics like SODARC to remember structure easily.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915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561673"/>
            <a:ext cx="9525000" cy="403023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48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</p:txBody>
      </p:sp>
      <p:pic>
        <p:nvPicPr>
          <p:cNvPr id="5" name="Picture 4" descr="cdc logo png black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636776" y="235958"/>
            <a:ext cx="507093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Learning Outcomes </a:t>
            </a:r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1051560"/>
            <a:ext cx="10125182" cy="5595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 the end of this two-hour session, students will be able to:</a:t>
            </a:r>
          </a:p>
          <a:p>
            <a:pPr marL="45720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 the importance of formal letters in academic, professional, and business contexts.</a:t>
            </a:r>
          </a:p>
          <a:p>
            <a:pPr marL="45720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Recognize and apply correct formats, tone, and etiquette in formal letter writing.</a:t>
            </a:r>
          </a:p>
          <a:p>
            <a:pPr marL="45720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Draft clear and well-structured formal letters for various professional purposes.</a:t>
            </a:r>
          </a:p>
          <a:p>
            <a:pPr marL="45720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common mistakes and improve written communication through peer feedback and self-correction.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48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 algn="ctr">
              <a:buNone/>
            </a:pPr>
            <a:r>
              <a:rPr lang="en-IN" sz="4800" dirty="0">
                <a:latin typeface="Calibri" pitchFamily="34" charset="0"/>
                <a:ea typeface="Calibri" pitchFamily="34" charset="0"/>
                <a:cs typeface="Calibri" pitchFamily="34" charset="0"/>
              </a:rPr>
              <a:t>Thank You </a:t>
            </a:r>
          </a:p>
        </p:txBody>
      </p:sp>
      <p:pic>
        <p:nvPicPr>
          <p:cNvPr id="5" name="Picture 4" descr="cdc logo png black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227BAF2-BB0B-4E7B-AE5A-2E47729F98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38B8CBF-35BC-4CBA-95E2-584C08F618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2AE0DF-6B5F-4274-A760-FE77CC84C90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ModOverlayVTI</Template>
  <TotalTime>755</TotalTime>
  <Words>892</Words>
  <Application>Microsoft Office PowerPoint</Application>
  <PresentationFormat>Widescreen</PresentationFormat>
  <Paragraphs>159</Paragraphs>
  <Slides>17</Slides>
  <Notes>17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 Nova Light</vt:lpstr>
      <vt:lpstr>Calibri</vt:lpstr>
      <vt:lpstr>Elephant</vt:lpstr>
      <vt:lpstr>Symbol</vt:lpstr>
      <vt:lpstr>Wingdings</vt:lpstr>
      <vt:lpstr>ModOverlayVTI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</dc:title>
  <dc:creator>ABC</dc:creator>
  <cp:lastModifiedBy>MOHINI MACWAN</cp:lastModifiedBy>
  <cp:revision>139</cp:revision>
  <dcterms:created xsi:type="dcterms:W3CDTF">2024-01-11T09:03:24Z</dcterms:created>
  <dcterms:modified xsi:type="dcterms:W3CDTF">2025-05-29T07:00:32Z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