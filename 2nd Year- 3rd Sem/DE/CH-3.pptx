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ppt/slideLayouts/slideLayout10.xml" ContentType="application/vnd.openxmlformats-officedocument.presentationml.slideLayout+xml"/>
  <Override PartName="/ppt/theme/theme11.xml" ContentType="application/vnd.openxmlformats-officedocument.theme+xml"/>
  <Override PartName="/ppt/slideLayouts/slideLayout1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45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X4rfG3c8EtwkOPkfgWFL8zbzu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15CA77-251E-46C7-8652-A0DF83497584}">
  <a:tblStyle styleId="{BA15CA77-251E-46C7-8652-A0DF834975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103" d="100"/>
          <a:sy n="103" d="100"/>
        </p:scale>
        <p:origin x="18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50" Type="http://customschemas.google.com/relationships/presentationmetadata" Target="metadata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" name="Google Shape;109;p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" descr="C:\Users\parul\Desktop\tem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"/>
          <p:cNvSpPr txBox="1"/>
          <p:nvPr/>
        </p:nvSpPr>
        <p:spPr>
          <a:xfrm>
            <a:off x="1143000" y="1473200"/>
            <a:ext cx="6858000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Electronics</a:t>
            </a:r>
            <a:endParaRPr dirty="0"/>
          </a:p>
        </p:txBody>
      </p:sp>
      <p:sp>
        <p:nvSpPr>
          <p:cNvPr id="156" name="Google Shape;156;p1"/>
          <p:cNvSpPr txBox="1"/>
          <p:nvPr/>
        </p:nvSpPr>
        <p:spPr>
          <a:xfrm>
            <a:off x="1527175" y="2854325"/>
            <a:ext cx="6089650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dirty="0"/>
          </a:p>
        </p:txBody>
      </p:sp>
      <p:pic>
        <p:nvPicPr>
          <p:cNvPr id="157" name="Google Shape;157;p1" descr="C:\Users\parul\Desktop\Registered Logos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500062"/>
            <a:ext cx="238125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"/>
          <p:cNvGrpSpPr/>
          <p:nvPr/>
        </p:nvGrpSpPr>
        <p:grpSpPr>
          <a:xfrm>
            <a:off x="1417637" y="2692400"/>
            <a:ext cx="6308725" cy="93662"/>
            <a:chOff x="1428728" y="2571744"/>
            <a:chExt cx="6309404" cy="94298"/>
          </a:xfrm>
        </p:grpSpPr>
        <p:cxnSp>
          <p:nvCxnSpPr>
            <p:cNvPr id="159" name="Google Shape;159;p1"/>
            <p:cNvCxnSpPr/>
            <p:nvPr/>
          </p:nvCxnSpPr>
          <p:spPr>
            <a:xfrm>
              <a:off x="1428728" y="2618094"/>
              <a:ext cx="6287177" cy="159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0" name="Google Shape;160;p1"/>
            <p:cNvSpPr/>
            <p:nvPr/>
          </p:nvSpPr>
          <p:spPr>
            <a:xfrm rot="10800000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 rot="10800000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2" name="Google Shape;16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7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"/>
          <p:cNvSpPr txBox="1"/>
          <p:nvPr/>
        </p:nvSpPr>
        <p:spPr>
          <a:xfrm>
            <a:off x="-34925" y="3741737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0" y="3756025"/>
            <a:ext cx="9144000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COMBINATIONAL CIRCUITS</a:t>
            </a:r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1714500" y="3071812"/>
            <a:ext cx="5715000" cy="63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CHAPTER-3</a:t>
            </a:r>
            <a:endParaRPr/>
          </a:p>
        </p:txBody>
      </p:sp>
      <p:pic>
        <p:nvPicPr>
          <p:cNvPr id="172" name="Google Shape;17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"/>
          <p:cNvSpPr txBox="1"/>
          <p:nvPr/>
        </p:nvSpPr>
        <p:spPr>
          <a:xfrm>
            <a:off x="-7937" y="4962525"/>
            <a:ext cx="9144000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lang="en-US" sz="35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140075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/>
        </p:nvSpPr>
        <p:spPr>
          <a:xfrm>
            <a:off x="190500" y="2286000"/>
            <a:ext cx="8845550" cy="143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Combinational circuit is a circuit in which we combine the different gates in the circuit, for example encoder, decoder, multiplexer and demultiplexer. Some of the characteristics of combinational circuits are following: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4.1: Introduction to Combinational circuits: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"/>
          <p:cNvSpPr txBox="1"/>
          <p:nvPr/>
        </p:nvSpPr>
        <p:spPr>
          <a:xfrm>
            <a:off x="6518275" y="4940300"/>
            <a:ext cx="2425700" cy="1701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-204787" y="3716337"/>
            <a:ext cx="6524625" cy="254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of combinational circuit at any instant of time depends only on the levels present at input terminals.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circuit do not use any memory. The previous state of input does not have any effect on the present state of the circuit.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have an n number of inputs and m number of outputs.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140075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"/>
          <p:cNvSpPr txBox="1"/>
          <p:nvPr/>
        </p:nvSpPr>
        <p:spPr>
          <a:xfrm>
            <a:off x="190500" y="2178050"/>
            <a:ext cx="8558212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procedure involves the following steps: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 is stated.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available input variables and required output variables is determined.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input and output variables are assigned letter symbols.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truth table that defines the required relationships between inputs and outputs is derived.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simplified Boolean function for each output is obtained.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logic diagram is drawn.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4.2: Design Procedure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5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140075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4.3: Adders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/>
        </p:nvSpPr>
        <p:spPr>
          <a:xfrm>
            <a:off x="61912" y="2366962"/>
            <a:ext cx="4510087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4.3.1: Half Adder: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half adder circuit is designed to add two single bit binary number A and B. It is the basic building block for addition of two single bit numbers. This circuit has two outputs carry and sum.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A’B + AB’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C=AB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11" name="Google Shape;211;p5" descr="D:\PIT 2019\Odd 2020-21\E-course\Digital Electronics e course\3.2.png"/>
          <p:cNvPicPr preferRelativeResize="0"/>
          <p:nvPr/>
        </p:nvPicPr>
        <p:blipFill rotWithShape="1">
          <a:blip r:embed="rId6">
            <a:alphaModFix/>
          </a:blip>
          <a:srcRect b="10524"/>
          <a:stretch/>
        </p:blipFill>
        <p:spPr>
          <a:xfrm>
            <a:off x="5400675" y="5013325"/>
            <a:ext cx="3625850" cy="16700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graphicFrame>
        <p:nvGraphicFramePr>
          <p:cNvPr id="212" name="Google Shape;212;p5"/>
          <p:cNvGraphicFramePr/>
          <p:nvPr/>
        </p:nvGraphicFramePr>
        <p:xfrm>
          <a:off x="4632325" y="278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 gridSpan="2"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Carry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6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6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4.3: Adders (Continue..)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 txBox="1"/>
          <p:nvPr/>
        </p:nvSpPr>
        <p:spPr>
          <a:xfrm>
            <a:off x="61912" y="2366962"/>
            <a:ext cx="4510087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4.3.1: Half Adder (Continue..):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A’B + AB’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C=AB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above equations, the circuit can be designed as shown here.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25" name="Google Shape;225;p6" descr="D:\PIT 2019\Odd 2020-21\E-course\Digital Electronics e course\3.3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35600" y="3644900"/>
            <a:ext cx="3517900" cy="304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7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4.3: Adders (Continue..)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 txBox="1"/>
          <p:nvPr/>
        </p:nvSpPr>
        <p:spPr>
          <a:xfrm>
            <a:off x="61912" y="2366962"/>
            <a:ext cx="4510087" cy="3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4.3.2: Full Adder 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adder overcomes the drawback of Half Adder circuit. 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add two one-bit numbers A and B, and carry C. 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full adder is a three input and two output (Sum and Carry out) combinational circuit. 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38" name="Google Shape;238;p7" descr="D:\PIT 2019\Odd 2020-21\E-course\Digital Electronics e course\3.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8262" y="4149725"/>
            <a:ext cx="3773487" cy="25431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8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8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4.3: Adders (Continue..)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 txBox="1"/>
          <p:nvPr/>
        </p:nvSpPr>
        <p:spPr>
          <a:xfrm>
            <a:off x="61912" y="2366962"/>
            <a:ext cx="4510087" cy="50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4.3.2: Full Adder (Continue):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251" name="Google Shape;251;p8"/>
          <p:cNvGraphicFramePr/>
          <p:nvPr/>
        </p:nvGraphicFramePr>
        <p:xfrm>
          <a:off x="61912" y="287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6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400">
                <a:tc gridSpan="3">
                  <a:txBody>
                    <a:bodyPr/>
                    <a:lstStyle/>
                    <a:p>
                      <a:pPr marL="84137" marR="0" lvl="3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Cin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Cout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52" name="Google Shape;252;p8" descr="D:\PIT 2019\Odd 2020-21\E-course\Digital Electronics e course\3.6.png"/>
          <p:cNvPicPr preferRelativeResize="0"/>
          <p:nvPr/>
        </p:nvPicPr>
        <p:blipFill rotWithShape="1">
          <a:blip r:embed="rId6">
            <a:alphaModFix/>
          </a:blip>
          <a:srcRect t="1034"/>
          <a:stretch/>
        </p:blipFill>
        <p:spPr>
          <a:xfrm>
            <a:off x="4633912" y="2405062"/>
            <a:ext cx="4197350" cy="42814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9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9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4.3: Adders (Continue..)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 txBox="1"/>
          <p:nvPr/>
        </p:nvSpPr>
        <p:spPr>
          <a:xfrm>
            <a:off x="61912" y="2366962"/>
            <a:ext cx="3522662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4.3.2: Full Adder (Continue):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derived equations, circuit of full adder can be designed as shown in figure.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65" name="Google Shape;265;p9" descr="D:\PIT 2019\Odd 2020-21\E-course\Digital Electronics e course\3.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79837" y="3357562"/>
            <a:ext cx="4953000" cy="33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0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4.4: Subtractors (Continue..)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61912" y="2366962"/>
            <a:ext cx="4005262" cy="3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4.4.1: Half Subtractor: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half-subtractor is a combinational circuit that subtracts two bits and produces their difference. 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also has an output to specify if a 1 has been borrowed.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78" name="Google Shape;278;p10" descr="D:\PIT 2019\Odd 2020-21\E-course\Digital Electronics e course\half-su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18037" y="5013325"/>
            <a:ext cx="4335462" cy="16954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graphicFrame>
        <p:nvGraphicFramePr>
          <p:cNvPr id="279" name="Google Shape;279;p10"/>
          <p:cNvGraphicFramePr/>
          <p:nvPr/>
        </p:nvGraphicFramePr>
        <p:xfrm>
          <a:off x="4819650" y="2500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99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00">
                <a:tc gridSpan="2"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Carry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00"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7462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1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4.4: Subtractors (Continue..)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 txBox="1"/>
          <p:nvPr/>
        </p:nvSpPr>
        <p:spPr>
          <a:xfrm>
            <a:off x="61912" y="2366962"/>
            <a:ext cx="4222750" cy="373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4.4.1: Half Subtractor (Continue..):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simplified expressions for Sum and carry are as follows.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A’B + AB’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B=A’B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derived equations, the circuit of half subtractor can be designed as shown in figure.</a:t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292" name="Google Shape;292;p11" descr="D:\PIT 2019\Odd 2020-21\E-course\Digital Electronics e course\3.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76825" y="3789362"/>
            <a:ext cx="3851275" cy="29035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2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2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2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4.4: Subtractors (Continue..)</a:t>
            </a:r>
            <a:endParaRPr/>
          </a:p>
        </p:txBody>
      </p:sp>
      <p:sp>
        <p:nvSpPr>
          <p:cNvPr id="301" name="Google Shape;301;p12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 txBox="1"/>
          <p:nvPr/>
        </p:nvSpPr>
        <p:spPr>
          <a:xfrm>
            <a:off x="-152400" y="2159000"/>
            <a:ext cx="8685212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4.4.2: Full Subtractor: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subtractor overcomes the disadvantage of half-subtractor.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full-subtractor performs a subtraction between two bits, taking into account that a 1 may have been borrowed by a lower significant stage.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-361950" y="3933825"/>
            <a:ext cx="5062537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combinational circuit with three inputs A,B,C and two output D and B. A is the 'minuend', B is 'subtrahend', B is the 'borrow' produced by the previous stage, D is the difference output and C' is the borrow output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pic>
        <p:nvPicPr>
          <p:cNvPr id="306" name="Google Shape;306;p12" descr="D:\PIT 2019\Odd 2020-21\E-course\Digital Electronics e course\full sub sym.png"/>
          <p:cNvPicPr preferRelativeResize="0"/>
          <p:nvPr/>
        </p:nvPicPr>
        <p:blipFill rotWithShape="1">
          <a:blip r:embed="rId6">
            <a:alphaModFix/>
          </a:blip>
          <a:srcRect l="11398" t="15527" r="9246" b="12422"/>
          <a:stretch/>
        </p:blipFill>
        <p:spPr>
          <a:xfrm>
            <a:off x="5064125" y="4797425"/>
            <a:ext cx="3889375" cy="18954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3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4.4: Subtractors (Continue..)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/>
          <p:nvPr/>
        </p:nvSpPr>
        <p:spPr>
          <a:xfrm>
            <a:off x="-152400" y="2159000"/>
            <a:ext cx="8685212" cy="50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4.4.2: Full Subtractor (Continue..):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319" name="Google Shape;319;p13"/>
          <p:cNvGraphicFramePr/>
          <p:nvPr/>
        </p:nvGraphicFramePr>
        <p:xfrm>
          <a:off x="223837" y="275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9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75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Bout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50" marR="68550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20" name="Google Shape;320;p13" descr="D:\PIT 2019\Odd 2020-21\E-course\Digital Electronics e course\full sub eq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4912" y="2659062"/>
            <a:ext cx="3952875" cy="40338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4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4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4.4: Subtractors (Continue..)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 txBox="1"/>
          <p:nvPr/>
        </p:nvSpPr>
        <p:spPr>
          <a:xfrm>
            <a:off x="0" y="2419350"/>
            <a:ext cx="89281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4.4.2: Full Subtractor (Continue..):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expressions derived in previous slide, the circuit of full subtractor can be designed as shown here.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333" name="Google Shape;333;p14" descr="D:\PIT 2019\Odd 2020-21\E-course\Digital Electronics e course\Full-Subtractor-Circuit-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19475" y="3789362"/>
            <a:ext cx="5564187" cy="29035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5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5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5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4.5: N-Bit Parallel Adder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5"/>
          <p:cNvSpPr txBox="1"/>
          <p:nvPr/>
        </p:nvSpPr>
        <p:spPr>
          <a:xfrm>
            <a:off x="0" y="2419350"/>
            <a:ext cx="8928100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two n-bit binary numbers we need to use the n-bit parallel adder. It uses a number of full adders in cascade. The carry output of the previous full adder is connected to carry input of the next full adder.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4-bit parallel adder is shown here.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346" name="Google Shape;346;p15" descr="D:\PIT 2019\Odd 2020-21\E-course\Digital Electronics e course\3.10.fourbitadder_blockdiagr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2112" y="4492625"/>
            <a:ext cx="7307262" cy="22129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6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6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4.6: N-Bit Parallel Subtractor</a:t>
            </a:r>
            <a:endParaRPr/>
          </a:p>
        </p:txBody>
      </p:sp>
      <p:sp>
        <p:nvSpPr>
          <p:cNvPr id="355" name="Google Shape;355;p16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6"/>
          <p:cNvSpPr txBox="1"/>
          <p:nvPr/>
        </p:nvSpPr>
        <p:spPr>
          <a:xfrm>
            <a:off x="-128587" y="2238375"/>
            <a:ext cx="4592637" cy="424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subtract one n-bit binary numbers from the other n-bit binary number,  we need to use the n-bit parallel subtractor. It uses a number of full adders in cascade. But B is complemented then added to A.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A + Complement of B = A-B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4-bit parallel subtractor is shown here.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359" name="Google Shape;359;p16" descr="D:\PIT 2019\Odd 2020-21\E-course\Digital Electronics e course\3.11 4 bit su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64050" y="2792412"/>
            <a:ext cx="4703762" cy="39131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17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7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7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4.7: Multiplexers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7"/>
          <p:cNvSpPr txBox="1"/>
          <p:nvPr/>
        </p:nvSpPr>
        <p:spPr>
          <a:xfrm>
            <a:off x="-128587" y="2238375"/>
            <a:ext cx="4837112" cy="378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digital multiplexer selects binary information from one of many input lines and directs it to a single output line. 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 of a particular input line is controlled selection lines.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2" input lines 🡺 n selection lines 🡺 1 output line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372" name="Google Shape;372;p17" descr="D:\PIT 2019\Odd 2020-21\E-course\Digital Electronics e course\3.12.n_onemultiplexer_blockdiagr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37112" y="3208337"/>
            <a:ext cx="4306887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8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8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8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4.7: Multiplexers (Continue..)</a:t>
            </a:r>
            <a:endParaRPr/>
          </a:p>
        </p:txBody>
      </p:sp>
      <p:sp>
        <p:nvSpPr>
          <p:cNvPr id="381" name="Google Shape;381;p18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8"/>
          <p:cNvSpPr txBox="1"/>
          <p:nvPr/>
        </p:nvSpPr>
        <p:spPr>
          <a:xfrm>
            <a:off x="23812" y="2470150"/>
            <a:ext cx="4403725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1 Multiplexer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table and block diagram of 4:1 multiplexer are shown here.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truth table, the Boolean expression is derived as follows.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Y=S1′S0′I0+S1′S0I1+S1S0′I2+S1S0I3</a:t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385" name="Google Shape;385;p18" descr="D:\PIT 2019\Odd 2020-21\E-course\Digital Electronics e course\3.13.4_1_multiplexer.png"/>
          <p:cNvPicPr preferRelativeResize="0"/>
          <p:nvPr/>
        </p:nvPicPr>
        <p:blipFill rotWithShape="1">
          <a:blip r:embed="rId6">
            <a:alphaModFix/>
          </a:blip>
          <a:srcRect l="23089" r="21491"/>
          <a:stretch/>
        </p:blipFill>
        <p:spPr>
          <a:xfrm>
            <a:off x="5867400" y="4868862"/>
            <a:ext cx="3005137" cy="1806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graphicFrame>
        <p:nvGraphicFramePr>
          <p:cNvPr id="386" name="Google Shape;386;p18"/>
          <p:cNvGraphicFramePr/>
          <p:nvPr/>
        </p:nvGraphicFramePr>
        <p:xfrm>
          <a:off x="489585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Selection lines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800" b="0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800" b="0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800" b="0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800" b="0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9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9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9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4.8: De-Multiplexers</a:t>
            </a:r>
            <a:endParaRPr/>
          </a:p>
        </p:txBody>
      </p:sp>
      <p:sp>
        <p:nvSpPr>
          <p:cNvPr id="395" name="Google Shape;395;p19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9"/>
          <p:cNvSpPr txBox="1"/>
          <p:nvPr/>
        </p:nvSpPr>
        <p:spPr>
          <a:xfrm>
            <a:off x="23812" y="2470150"/>
            <a:ext cx="8724900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de-multiplexer performs the reverse operation of a multiplexer i.e. it receives one input and distributes it over several outputs. 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has only one input, n outputs, m select input.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De-multiplexer come in multiple variations: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2 demultiplexer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4 demultiplexer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16 demultiplexer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32 demultiplexer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0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0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0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4.8: De-Multiplexers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0"/>
          <p:cNvSpPr txBox="1"/>
          <p:nvPr/>
        </p:nvSpPr>
        <p:spPr>
          <a:xfrm>
            <a:off x="23812" y="2470150"/>
            <a:ext cx="5268912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1:4 De-multiplexer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1x4 De-Multiplexer has one input I, two selection lines, s1 &amp; s0 and four outputs Y3, Y2, Y1 &amp;Y0. 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block diagram or symbol of multiplexer is as shown here.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411" name="Google Shape;411;p20" descr="D:\PIT 2019\Odd 2020-21\E-course\Digital Electronics e course\3.15.1_4_demultiplexer.png"/>
          <p:cNvPicPr preferRelativeResize="0"/>
          <p:nvPr/>
        </p:nvPicPr>
        <p:blipFill rotWithShape="1">
          <a:blip r:embed="rId6">
            <a:alphaModFix/>
          </a:blip>
          <a:srcRect l="18295" r="20959"/>
          <a:stretch/>
        </p:blipFill>
        <p:spPr>
          <a:xfrm>
            <a:off x="5480050" y="3832225"/>
            <a:ext cx="3475037" cy="28654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1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1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4.8: De-Multiplexers (Continue..)</a:t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1"/>
          <p:cNvSpPr txBox="1"/>
          <p:nvPr/>
        </p:nvSpPr>
        <p:spPr>
          <a:xfrm>
            <a:off x="23812" y="2470150"/>
            <a:ext cx="3789362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1:4 De-multiplexer (Continue..)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above Truth table, we can directly write the Boolean functions for each output as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Y3=s1s0I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Y2=s1s0′I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Y1=s1′s0I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Y0=s1′s0′I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424" name="Google Shape;424;p21"/>
          <p:cNvGraphicFramePr/>
          <p:nvPr/>
        </p:nvGraphicFramePr>
        <p:xfrm>
          <a:off x="4572000" y="2655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6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5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Selection Inputs</a:t>
                      </a:r>
                      <a:endParaRPr/>
                    </a:p>
                  </a:txBody>
                  <a:tcPr marL="91425" marR="91425" marT="45750" marB="457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25" marR="91425" marT="45750" marB="4575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2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2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2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4.8: De-Multiplexers (Continue..)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2"/>
          <p:cNvSpPr txBox="1"/>
          <p:nvPr/>
        </p:nvSpPr>
        <p:spPr>
          <a:xfrm>
            <a:off x="23812" y="2470150"/>
            <a:ext cx="3789362" cy="3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1:4 De-multiplexer (Continue..)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Y3=s1s0I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Y2=s1s0′I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Y1=s1′s0I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Y0=s1′s0′I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above Boolean functions, we can design the circuit as shown here.</a:t>
            </a:r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437" name="Google Shape;437;p22" descr="D:\PIT 2019\Odd 2020-21\E-course\Digital Electronics e course\3.16.1_4_demultiplexer_circuit_diagr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7375" y="3203575"/>
            <a:ext cx="4425950" cy="34718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3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3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3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4.9: Decoder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 txBox="1"/>
          <p:nvPr/>
        </p:nvSpPr>
        <p:spPr>
          <a:xfrm>
            <a:off x="15875" y="2344737"/>
            <a:ext cx="8582025" cy="240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decoder is a combinational circuit that has n input and to a maximum m = 2n outputs. Decoder is identical to a de-multiplexer without any data input.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to 4 decoder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block diagram of 2 to 4 decoder is shown here.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450" name="Google Shape;450;p23" descr="D:\PIT 2019\Odd 2020-21\E-course\Digital Electronics e course\3.17.2_to_4_decoder.png"/>
          <p:cNvPicPr preferRelativeResize="0"/>
          <p:nvPr/>
        </p:nvPicPr>
        <p:blipFill rotWithShape="1">
          <a:blip r:embed="rId6">
            <a:alphaModFix/>
          </a:blip>
          <a:srcRect l="23091" r="20425"/>
          <a:stretch/>
        </p:blipFill>
        <p:spPr>
          <a:xfrm>
            <a:off x="5435600" y="4805362"/>
            <a:ext cx="3162300" cy="18859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24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4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4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4.9: Decoder (Continue..)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4"/>
          <p:cNvSpPr txBox="1"/>
          <p:nvPr/>
        </p:nvSpPr>
        <p:spPr>
          <a:xfrm>
            <a:off x="15875" y="2344737"/>
            <a:ext cx="3979862" cy="471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to 4 decoder (Continue..)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truth table of 2 to 4 decoder is shown here.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truth table, the derived Boolean functions are: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Y3=E.A1.A0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Y2=E.A1.A0′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Y1=E.A1′.A0</a:t>
            </a:r>
            <a:endParaRPr/>
          </a:p>
          <a:p>
            <a:pPr marL="108585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Y0=E.A1′.A0′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463" name="Google Shape;463;p24"/>
          <p:cNvGraphicFramePr/>
          <p:nvPr/>
        </p:nvGraphicFramePr>
        <p:xfrm>
          <a:off x="4011612" y="2344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  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50">
                <a:tc>
                  <a:txBody>
                    <a:bodyPr/>
                    <a:lstStyle/>
                    <a:p>
                      <a:pPr marL="84137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25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5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5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4.9: Decoder (Continue..)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5"/>
          <p:cNvSpPr txBox="1"/>
          <p:nvPr/>
        </p:nvSpPr>
        <p:spPr>
          <a:xfrm>
            <a:off x="15875" y="2344737"/>
            <a:ext cx="3979862" cy="33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to 4 decoder (Continue..)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derived Boolean functions, the circuit of 2 to 4 decoder can be designed as shown here.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similar method, 3 to 8 decoder can also be designed.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476" name="Google Shape;476;p25" descr="D:\PIT 2019\Odd 2020-21\E-course\Digital Electronics e course\3.18._decoder_circuit_diagr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95737" y="2852737"/>
            <a:ext cx="4941887" cy="3841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26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6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208337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6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4.10: Encoder</a:t>
            </a:r>
            <a:endParaRPr/>
          </a:p>
        </p:txBody>
      </p:sp>
      <p:sp>
        <p:nvSpPr>
          <p:cNvPr id="485" name="Google Shape;485;p26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6"/>
          <p:cNvSpPr txBox="1"/>
          <p:nvPr/>
        </p:nvSpPr>
        <p:spPr>
          <a:xfrm>
            <a:off x="15875" y="2344737"/>
            <a:ext cx="8516937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Encoder is a combinational circuit that performs the reverse operation of Decoder. 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has maximum of 2n input lines and ‘n’ output lines. It will produce a binary code equivalent to the input, which is active High. </a:t>
            </a:r>
            <a:endParaRPr/>
          </a:p>
        </p:txBody>
      </p:sp>
      <p:sp>
        <p:nvSpPr>
          <p:cNvPr id="488" name="Google Shape;488;p26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22225" y="4122737"/>
            <a:ext cx="4572000" cy="235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to 2 Encoder:</a:t>
            </a:r>
            <a:endParaRPr/>
          </a:p>
          <a:p>
            <a:pPr marL="285750" marR="0" lvl="0" indent="-127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4 to 2 Encoder has four inputs Y3, Y2, Y1 &amp; Y0 and two outputs A1 &amp; A0. The block diagram of 4 to 2 Encoder is shown here.</a:t>
            </a:r>
            <a:endParaRPr/>
          </a:p>
        </p:txBody>
      </p:sp>
      <p:pic>
        <p:nvPicPr>
          <p:cNvPr id="490" name="Google Shape;490;p26" descr="D:\PIT 2019\Odd 2020-21\E-course\Digital Electronics e course\3.19encoder.png"/>
          <p:cNvPicPr preferRelativeResize="0"/>
          <p:nvPr/>
        </p:nvPicPr>
        <p:blipFill rotWithShape="1">
          <a:blip r:embed="rId6">
            <a:alphaModFix/>
          </a:blip>
          <a:srcRect l="22735" r="19714"/>
          <a:stretch/>
        </p:blipFill>
        <p:spPr>
          <a:xfrm>
            <a:off x="5292725" y="4343400"/>
            <a:ext cx="3635375" cy="23320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27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7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5150" y="3268662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7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4.10: Encoder (Continue..)</a:t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 txBox="1"/>
          <p:nvPr/>
        </p:nvSpPr>
        <p:spPr>
          <a:xfrm>
            <a:off x="15875" y="2344737"/>
            <a:ext cx="8516937" cy="50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truth table of encoder is shown here.</a:t>
            </a:r>
            <a:endParaRPr/>
          </a:p>
        </p:txBody>
      </p:sp>
      <p:sp>
        <p:nvSpPr>
          <p:cNvPr id="502" name="Google Shape;502;p27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503" name="Google Shape;503;p27"/>
          <p:cNvGraphicFramePr/>
          <p:nvPr/>
        </p:nvGraphicFramePr>
        <p:xfrm>
          <a:off x="206375" y="285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7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97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sz="1800" b="1" i="0" u="none" strike="noStrike" cap="none" baseline="-25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68600" marR="68600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4" name="Google Shape;504;p27"/>
          <p:cNvSpPr txBox="1"/>
          <p:nvPr/>
        </p:nvSpPr>
        <p:spPr>
          <a:xfrm>
            <a:off x="-269875" y="5041900"/>
            <a:ext cx="4989512" cy="155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Boolean function for each output are as follows:</a:t>
            </a:r>
            <a:endParaRPr/>
          </a:p>
          <a:p>
            <a:pPr marL="742950" marR="0" lvl="0" indent="-28575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=Y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+Y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0" indent="-28575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=Y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+Y</a:t>
            </a:r>
            <a:r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505" name="Google Shape;505;p27" descr="D:\PIT 2019\Odd 2020-21\E-course\Digital Electronics e course\3.20_encoder_circuit_diagram.png"/>
          <p:cNvPicPr preferRelativeResize="0"/>
          <p:nvPr/>
        </p:nvPicPr>
        <p:blipFill rotWithShape="1">
          <a:blip r:embed="rId6">
            <a:alphaModFix/>
          </a:blip>
          <a:srcRect l="22589" r="18243"/>
          <a:stretch/>
        </p:blipFill>
        <p:spPr>
          <a:xfrm>
            <a:off x="4989512" y="3929062"/>
            <a:ext cx="3935412" cy="27638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28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8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5150" y="3268662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8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4.11: Code-Converters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8"/>
          <p:cNvSpPr txBox="1"/>
          <p:nvPr/>
        </p:nvSpPr>
        <p:spPr>
          <a:xfrm>
            <a:off x="15875" y="2344737"/>
            <a:ext cx="8443912" cy="33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combinational circuits, which convert one code to other code are called as code converters. 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circuits mainly consist of Logic gates.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code to Gray code converter</a:t>
            </a:r>
            <a:endParaRPr/>
          </a:p>
          <a:p>
            <a:pPr marL="6286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 combinational circuit which is designed to converts a 4-bit binary code B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its equivalent Gray code G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17" name="Google Shape;517;p28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29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9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376612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9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4.11: Code-Converters (Continue..)</a:t>
            </a:r>
            <a:endParaRPr/>
          </a:p>
        </p:txBody>
      </p:sp>
      <p:sp>
        <p:nvSpPr>
          <p:cNvPr id="526" name="Google Shape;526;p29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9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graphicFrame>
        <p:nvGraphicFramePr>
          <p:cNvPr id="529" name="Google Shape;529;p29"/>
          <p:cNvGraphicFramePr/>
          <p:nvPr/>
        </p:nvGraphicFramePr>
        <p:xfrm>
          <a:off x="1116012" y="2420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{BA15CA77-251E-46C7-8652-A0DF83497584}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550">
                <a:tc>
                  <a:txBody>
                    <a:bodyPr/>
                    <a:lstStyle/>
                    <a:p>
                      <a:pPr marL="457200" marR="0" lvl="0" indent="-77786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code B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Gray code G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r>
                        <a:rPr lang="en-US" sz="1200" b="1" i="0" u="none" strike="noStrike" cap="none" baseline="-25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9225"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30" name="Google Shape;530;p29"/>
          <p:cNvSpPr txBox="1"/>
          <p:nvPr/>
        </p:nvSpPr>
        <p:spPr>
          <a:xfrm>
            <a:off x="6348412" y="3006725"/>
            <a:ext cx="2782887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0162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Truth table, we can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 Boolean expression using K-maps.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0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0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376612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0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4.11: Code-Converters (Continue..)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pic>
        <p:nvPicPr>
          <p:cNvPr id="542" name="Google Shape;542;p30" descr="D:\PIT 2019\Odd 2020-21\E-course\Digital Electronics e course\3.23...2333704_or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37262" y="2352675"/>
            <a:ext cx="2711450" cy="18764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43" name="Google Shape;543;p30" descr="D:\PIT 2019\Odd 2020-21\E-course\Digital Electronics e course\3.24...9123990_orig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87675" y="4513262"/>
            <a:ext cx="3049587" cy="2146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44" name="Google Shape;544;p30" descr="D:\PIT 2019\Odd 2020-21\E-course\Digital Electronics e course\3.25..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48387" y="4513262"/>
            <a:ext cx="2746375" cy="21621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545" name="Google Shape;545;p30"/>
          <p:cNvSpPr txBox="1"/>
          <p:nvPr/>
        </p:nvSpPr>
        <p:spPr>
          <a:xfrm>
            <a:off x="-11112" y="2290762"/>
            <a:ext cx="5857875" cy="460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truth table, k-map can be generated.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truth table and k-map, the simplified expression output digits are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=B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’B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B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🡺G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=B</a:t>
            </a:r>
            <a:r>
              <a:rPr lang="en-US" sz="2000" b="0" i="0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⊕B</a:t>
            </a:r>
            <a:r>
              <a:rPr lang="en-US" sz="2000" b="0" i="0" u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G1=B1’B2+ B1B2’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G1=B1 ⊕B2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G2=B3’B2+ B3B2’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G2=B2 ⊕B3</a:t>
            </a:r>
            <a:endParaRPr/>
          </a:p>
          <a:p>
            <a:pPr marL="355600" marR="0" lvl="0" indent="-3429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G3=B3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31" descr="C:\Users\parul\Desktop\Digital Learning Cont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1" descr="C:\Users\parul\Desktop\Untitled-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5787" y="3376612"/>
            <a:ext cx="5432425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1"/>
          <p:cNvSpPr txBox="1"/>
          <p:nvPr/>
        </p:nvSpPr>
        <p:spPr>
          <a:xfrm>
            <a:off x="0" y="1643062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190500" y="1687512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US" sz="30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4.11: Code-Converters (Continue..)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 flipH="1">
            <a:off x="6564312" y="6072187"/>
            <a:ext cx="46037" cy="214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1"/>
          <p:cNvSpPr txBox="1"/>
          <p:nvPr/>
        </p:nvSpPr>
        <p:spPr>
          <a:xfrm>
            <a:off x="6948487" y="6742112"/>
            <a:ext cx="1800225" cy="22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 Google</a:t>
            </a:r>
            <a:endParaRPr/>
          </a:p>
        </p:txBody>
      </p:sp>
      <p:sp>
        <p:nvSpPr>
          <p:cNvPr id="557" name="Google Shape;557;p31"/>
          <p:cNvSpPr txBox="1"/>
          <p:nvPr/>
        </p:nvSpPr>
        <p:spPr>
          <a:xfrm>
            <a:off x="-11112" y="2290762"/>
            <a:ext cx="585787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above derived Boolean expressions, we can design the combinational circuit using logic gates as follows.</a:t>
            </a:r>
            <a:endParaRPr/>
          </a:p>
        </p:txBody>
      </p:sp>
      <p:pic>
        <p:nvPicPr>
          <p:cNvPr id="558" name="Google Shape;558;p31" descr="D:\PIT 2019\Odd 2020-21\E-course\Digital Electronics e course\3.24.png"/>
          <p:cNvPicPr preferRelativeResize="0"/>
          <p:nvPr/>
        </p:nvPicPr>
        <p:blipFill rotWithShape="1">
          <a:blip r:embed="rId6">
            <a:alphaModFix/>
          </a:blip>
          <a:srcRect t="12446"/>
          <a:stretch/>
        </p:blipFill>
        <p:spPr>
          <a:xfrm>
            <a:off x="4284662" y="3406775"/>
            <a:ext cx="4476750" cy="322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"/>
          <p:cNvSpPr txBox="1"/>
          <p:nvPr/>
        </p:nvSpPr>
        <p:spPr>
          <a:xfrm>
            <a:off x="0" y="3214687"/>
            <a:ext cx="9144000" cy="364331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32" descr="C:\Users\parul\Desktop\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361950"/>
            <a:ext cx="67056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2" descr="C:\Users\parul\Desktop\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3637" y="4000500"/>
            <a:ext cx="42767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2" descr="C:\Users\parul\Desktop\Cover Page with yellow patch - Version 1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8475" y="4946650"/>
            <a:ext cx="3067050" cy="2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0" y="6003925"/>
            <a:ext cx="9144000" cy="357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2"/>
          <p:cNvSpPr txBox="1"/>
          <p:nvPr/>
        </p:nvSpPr>
        <p:spPr>
          <a:xfrm>
            <a:off x="3249612" y="5997575"/>
            <a:ext cx="26447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www.paruluniversity.ac.in</a:t>
            </a:r>
            <a:endParaRPr/>
          </a:p>
        </p:txBody>
      </p:sp>
      <p:pic>
        <p:nvPicPr>
          <p:cNvPr id="569" name="Google Shape;569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1896</Words>
  <Application>Microsoft Macintosh PowerPoint</Application>
  <PresentationFormat>On-screen Show (4:3)</PresentationFormat>
  <Paragraphs>471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Arial</vt:lpstr>
      <vt:lpstr>Calibri</vt:lpstr>
      <vt:lpstr>1_Office Theme</vt:lpstr>
      <vt:lpstr>2_Office Theme</vt:lpstr>
      <vt:lpstr>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parul</dc:creator>
  <cp:lastModifiedBy>MAC </cp:lastModifiedBy>
  <cp:revision>1</cp:revision>
  <dcterms:created xsi:type="dcterms:W3CDTF">2020-05-18T10:32:41Z</dcterms:created>
  <dcterms:modified xsi:type="dcterms:W3CDTF">2024-08-02T05:56:36Z</dcterms:modified>
</cp:coreProperties>
</file>